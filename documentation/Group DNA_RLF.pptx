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4"/>
  </p:sldMasterIdLst>
  <p:notesMasterIdLst>
    <p:notesMasterId r:id="rId29"/>
  </p:notesMasterIdLst>
  <p:sldIdLst>
    <p:sldId id="285" r:id="rId5"/>
    <p:sldId id="290" r:id="rId6"/>
    <p:sldId id="274" r:id="rId7"/>
    <p:sldId id="292" r:id="rId8"/>
    <p:sldId id="293" r:id="rId9"/>
    <p:sldId id="312" r:id="rId10"/>
    <p:sldId id="314" r:id="rId11"/>
    <p:sldId id="313" r:id="rId12"/>
    <p:sldId id="321" r:id="rId13"/>
    <p:sldId id="319" r:id="rId14"/>
    <p:sldId id="320" r:id="rId15"/>
    <p:sldId id="299" r:id="rId16"/>
    <p:sldId id="317" r:id="rId17"/>
    <p:sldId id="316" r:id="rId18"/>
    <p:sldId id="318" r:id="rId19"/>
    <p:sldId id="304" r:id="rId20"/>
    <p:sldId id="300" r:id="rId21"/>
    <p:sldId id="301" r:id="rId22"/>
    <p:sldId id="322" r:id="rId23"/>
    <p:sldId id="334" r:id="rId24"/>
    <p:sldId id="287" r:id="rId25"/>
    <p:sldId id="336" r:id="rId26"/>
    <p:sldId id="335" r:id="rId27"/>
    <p:sldId id="272" r:id="rId2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D1F334-9A2F-815D-A49C-72E0065F8B4D}" name="Charlotte Bodholdt" initials="CB" userId="S::cb@ydeplus.dk::92bb690d-11a4-41b8-9524-1f6307937887" providerId="AD"/>
  <p188:author id="{821475ED-BDA0-D310-36DD-506E35A9EAA5}" name="Mia Bøje Winther" initials="MBW" userId="S::mw@ydeplus.dk::3c9af22c-c7e7-4f41-98c3-efa17d0de04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A10BB1-5D89-4C02-A896-5BCC84F547F7}" v="2" dt="2026-06-09T10:37:35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834"/>
  </p:normalViewPr>
  <p:slideViewPr>
    <p:cSldViewPr snapToGrid="0" showGuides="1">
      <p:cViewPr varScale="1">
        <p:scale>
          <a:sx n="88" d="100"/>
          <a:sy n="88" d="100"/>
        </p:scale>
        <p:origin x="66" y="6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4C670-B5AF-464B-8268-2FCE66CF6DEF}" type="datetimeFigureOut">
              <a:rPr lang="da-DK" smtClean="0"/>
              <a:t>30-06-2026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A3DCB-5C4C-D04D-941F-A5415C2048E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6236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087E-8FF1-AA37-CFB9-3809DCA2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5FC8716-E822-A04B-CC1C-A5ECEF169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7FE772E-38E6-36C8-FEE4-DCC7167DD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409ABDC-104D-1FD5-951F-870199025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A3DCB-5C4C-D04D-941F-A5415C2048EC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0390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9F86-99C6-71BF-F7D8-D7CA4B47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540E3AD-A24C-92BF-F341-772AD87B5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9DA71CFC-26DA-F735-CB44-0CAD6A367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0603D11-3BF9-8E38-1CC8-814428918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A3DCB-5C4C-D04D-941F-A5415C2048EC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424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/front slide #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ombinationskurve 11">
            <a:extLst>
              <a:ext uri="{FF2B5EF4-FFF2-40B4-BE49-F238E27FC236}">
                <a16:creationId xmlns:a16="http://schemas.microsoft.com/office/drawing/2014/main" id="{0885DE3F-EA3B-BF76-3082-5B2DB80FB2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7296150" cy="6858000"/>
          </a:xfrm>
          <a:custGeom>
            <a:avLst/>
            <a:gdLst>
              <a:gd name="csX0" fmla="*/ 1977922 w 7296150"/>
              <a:gd name="csY0" fmla="*/ 0 h 6858000"/>
              <a:gd name="csX1" fmla="*/ 7058891 w 7296150"/>
              <a:gd name="csY1" fmla="*/ 0 h 6858000"/>
              <a:gd name="csX2" fmla="*/ 7221841 w 7296150"/>
              <a:gd name="csY2" fmla="*/ 115876 h 6858000"/>
              <a:gd name="csX3" fmla="*/ 7296150 w 7296150"/>
              <a:gd name="csY3" fmla="*/ 174272 h 6858000"/>
              <a:gd name="csX4" fmla="*/ 7296150 w 7296150"/>
              <a:gd name="csY4" fmla="*/ 6858000 h 6858000"/>
              <a:gd name="csX5" fmla="*/ 1253211 w 7296150"/>
              <a:gd name="csY5" fmla="*/ 6858000 h 6858000"/>
              <a:gd name="csX6" fmla="*/ 1173800 w 7296150"/>
              <a:gd name="csY6" fmla="*/ 6774710 h 6858000"/>
              <a:gd name="csX7" fmla="*/ 0 w 7296150"/>
              <a:gd name="csY7" fmla="*/ 3736635 h 6858000"/>
              <a:gd name="csX8" fmla="*/ 1814972 w 7296150"/>
              <a:gd name="csY8" fmla="*/ 115876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296150" h="6858000">
                <a:moveTo>
                  <a:pt x="1977922" y="0"/>
                </a:moveTo>
                <a:lnTo>
                  <a:pt x="7058891" y="0"/>
                </a:lnTo>
                <a:lnTo>
                  <a:pt x="7221841" y="115876"/>
                </a:lnTo>
                <a:lnTo>
                  <a:pt x="7296150" y="174272"/>
                </a:lnTo>
                <a:lnTo>
                  <a:pt x="7296150" y="6858000"/>
                </a:lnTo>
                <a:lnTo>
                  <a:pt x="1253211" y="6858000"/>
                </a:lnTo>
                <a:lnTo>
                  <a:pt x="1173800" y="6774710"/>
                </a:lnTo>
                <a:cubicBezTo>
                  <a:pt x="444498" y="5972299"/>
                  <a:pt x="0" y="4906376"/>
                  <a:pt x="0" y="3736635"/>
                </a:cubicBezTo>
                <a:cubicBezTo>
                  <a:pt x="0" y="2254964"/>
                  <a:pt x="713172" y="939862"/>
                  <a:pt x="1814972" y="11587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a-DK"/>
              <a:t>Klik på ikonet for at tilføje et billede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81B997-793B-AEC5-B443-F53AEA675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29047"/>
            <a:ext cx="5257800" cy="4015177"/>
          </a:xfrm>
        </p:spPr>
        <p:txBody>
          <a:bodyPr anchor="t" anchorCtr="0"/>
          <a:lstStyle>
            <a:lvl1pPr>
              <a:defRPr sz="7000"/>
            </a:lvl1pPr>
          </a:lstStyle>
          <a:p>
            <a:r>
              <a:rPr lang="da-DK" dirty="0"/>
              <a:t>Vi skaber relationer </a:t>
            </a:r>
            <a:br>
              <a:rPr lang="da-DK" dirty="0"/>
            </a:br>
            <a:r>
              <a:rPr lang="da-DK" dirty="0"/>
              <a:t>og deler </a:t>
            </a:r>
            <a:br>
              <a:rPr lang="da-DK" dirty="0"/>
            </a:br>
            <a:r>
              <a:rPr lang="da-DK" dirty="0"/>
              <a:t>erfaringer.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B1EA51E-BBEF-0E80-B472-8FB4CE26D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 l="64013" b="44019"/>
          <a:stretch>
            <a:fillRect/>
          </a:stretch>
        </p:blipFill>
        <p:spPr>
          <a:xfrm rot="5400000">
            <a:off x="1104296" y="-1104296"/>
            <a:ext cx="3074860" cy="528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47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/front slide #0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620A30F9-4618-7F81-3B3E-1C784A7B57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344189"/>
            <a:ext cx="8834438" cy="2942706"/>
          </a:xfrm>
        </p:spPr>
        <p:txBody>
          <a:bodyPr anchor="t" anchorCtr="0"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Forbindelser der skaber bedre beslutninger.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42983B3-520F-C73C-5767-7E4BD50883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sp>
        <p:nvSpPr>
          <p:cNvPr id="8" name="Pladsholder til tekst 2">
            <a:extLst>
              <a:ext uri="{FF2B5EF4-FFF2-40B4-BE49-F238E27FC236}">
                <a16:creationId xmlns:a16="http://schemas.microsoft.com/office/drawing/2014/main" id="{26AF6FEB-4F85-ABF8-6C70-83809A8B29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10346" y="5649782"/>
            <a:ext cx="4685654" cy="890504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04BC44DA-E76D-98BC-A72C-6124B29023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5649782"/>
            <a:ext cx="357565" cy="357565"/>
          </a:xfrm>
          <a:prstGeom prst="rect">
            <a:avLst/>
          </a:prstGeom>
        </p:spPr>
      </p:pic>
      <p:sp>
        <p:nvSpPr>
          <p:cNvPr id="21" name="Kombinationskurve 20">
            <a:extLst>
              <a:ext uri="{FF2B5EF4-FFF2-40B4-BE49-F238E27FC236}">
                <a16:creationId xmlns:a16="http://schemas.microsoft.com/office/drawing/2014/main" id="{426826AB-E158-183F-B44E-DC47986495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9382" y="-1"/>
            <a:ext cx="12441382" cy="6858001"/>
          </a:xfrm>
          <a:custGeom>
            <a:avLst/>
            <a:gdLst>
              <a:gd name="csX0" fmla="*/ 0 w 12441382"/>
              <a:gd name="csY0" fmla="*/ 0 h 6858001"/>
              <a:gd name="csX1" fmla="*/ 12441382 w 12441382"/>
              <a:gd name="csY1" fmla="*/ 0 h 6858001"/>
              <a:gd name="csX2" fmla="*/ 12441382 w 12441382"/>
              <a:gd name="csY2" fmla="*/ 1346042 h 6858001"/>
              <a:gd name="csX3" fmla="*/ 12408065 w 12441382"/>
              <a:gd name="csY3" fmla="*/ 1490395 h 6858001"/>
              <a:gd name="csX4" fmla="*/ 8745268 w 12441382"/>
              <a:gd name="csY4" fmla="*/ 6673146 h 6858001"/>
              <a:gd name="csX5" fmla="*/ 8456922 w 12441382"/>
              <a:gd name="csY5" fmla="*/ 6858001 h 6858001"/>
              <a:gd name="csX6" fmla="*/ 0 w 12441382"/>
              <a:gd name="csY6" fmla="*/ 6858001 h 6858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441382" h="6858001">
                <a:moveTo>
                  <a:pt x="0" y="0"/>
                </a:moveTo>
                <a:lnTo>
                  <a:pt x="12441382" y="0"/>
                </a:lnTo>
                <a:lnTo>
                  <a:pt x="12441382" y="1346042"/>
                </a:lnTo>
                <a:lnTo>
                  <a:pt x="12408065" y="1490395"/>
                </a:lnTo>
                <a:cubicBezTo>
                  <a:pt x="11856453" y="3634340"/>
                  <a:pt x="10530121" y="5467323"/>
                  <a:pt x="8745268" y="6673146"/>
                </a:cubicBezTo>
                <a:lnTo>
                  <a:pt x="8456922" y="6858001"/>
                </a:lnTo>
                <a:lnTo>
                  <a:pt x="0" y="68580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a-DK"/>
              <a:t>Klik på ikonet for at tilføje et billede</a:t>
            </a:r>
          </a:p>
        </p:txBody>
      </p:sp>
    </p:spTree>
    <p:extLst>
      <p:ext uri="{BB962C8B-B14F-4D97-AF65-F5344CB8AC3E}">
        <p14:creationId xmlns:p14="http://schemas.microsoft.com/office/powerpoint/2010/main" val="12920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9189806-2446-3A9D-6445-6988A7920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rcRect r="31375" b="33183"/>
          <a:stretch>
            <a:fillRect/>
          </a:stretch>
        </p:blipFill>
        <p:spPr>
          <a:xfrm rot="15635572">
            <a:off x="6442358" y="-536774"/>
            <a:ext cx="5863524" cy="63061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729A17F-D77C-9FBB-1C8E-4524DFCB93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E0FDC154-C486-E95C-B1EC-709E1D434B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014" y="2193457"/>
            <a:ext cx="357565" cy="35756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1D15EA-A50E-6EF3-A75C-B0649E170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14" y="939801"/>
            <a:ext cx="4346913" cy="845038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Agenda.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997ED10-08CE-659F-952C-D3A5BCCF9E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493861" y="2205179"/>
            <a:ext cx="6718154" cy="4063736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 dirty="0" err="1"/>
              <a:t>Text</a:t>
            </a:r>
            <a:r>
              <a:rPr lang="da-DK" dirty="0"/>
              <a:t> 1</a:t>
            </a:r>
          </a:p>
          <a:p>
            <a:pPr lvl="0"/>
            <a:r>
              <a:rPr lang="da-DK" dirty="0" err="1"/>
              <a:t>Text</a:t>
            </a:r>
            <a:r>
              <a:rPr lang="da-DK" dirty="0"/>
              <a:t> 2</a:t>
            </a:r>
          </a:p>
          <a:p>
            <a:pPr lvl="0"/>
            <a:r>
              <a:rPr lang="da-DK" dirty="0" err="1"/>
              <a:t>Text</a:t>
            </a:r>
            <a:r>
              <a:rPr lang="da-DK" dirty="0"/>
              <a:t> 3</a:t>
            </a:r>
          </a:p>
          <a:p>
            <a:pPr lvl="0"/>
            <a:r>
              <a:rPr lang="da-DK" dirty="0" err="1"/>
              <a:t>Text</a:t>
            </a:r>
            <a:r>
              <a:rPr lang="da-DK" dirty="0"/>
              <a:t> 4</a:t>
            </a:r>
          </a:p>
          <a:p>
            <a:pPr lvl="0"/>
            <a:r>
              <a:rPr lang="da-DK" dirty="0" err="1"/>
              <a:t>Text</a:t>
            </a:r>
            <a:r>
              <a:rPr lang="da-DK" dirty="0"/>
              <a:t> 5</a:t>
            </a:r>
          </a:p>
          <a:p>
            <a:pPr lvl="0"/>
            <a:r>
              <a:rPr lang="da-DK" dirty="0" err="1"/>
              <a:t>Text</a:t>
            </a:r>
            <a:r>
              <a:rPr lang="da-DK" dirty="0"/>
              <a:t> 6</a:t>
            </a:r>
          </a:p>
          <a:p>
            <a:pPr lvl="0"/>
            <a:r>
              <a:rPr lang="da-DK" dirty="0" err="1"/>
              <a:t>Text</a:t>
            </a:r>
            <a:r>
              <a:rPr lang="da-DK" dirty="0"/>
              <a:t> 7</a:t>
            </a:r>
          </a:p>
          <a:p>
            <a:pPr lvl="0"/>
            <a:r>
              <a:rPr lang="da-DK" dirty="0" err="1"/>
              <a:t>Text</a:t>
            </a:r>
            <a:r>
              <a:rPr lang="da-DK" dirty="0"/>
              <a:t> 8</a:t>
            </a:r>
          </a:p>
          <a:p>
            <a:pPr lv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764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Header + subheader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9189806-2446-3A9D-6445-6988A7920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rcRect l="40518" t="22112" b="18782"/>
          <a:stretch>
            <a:fillRect/>
          </a:stretch>
        </p:blipFill>
        <p:spPr>
          <a:xfrm rot="7801604">
            <a:off x="7816377" y="-1106623"/>
            <a:ext cx="5082344" cy="557837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729A17F-D77C-9FBB-1C8E-4524DFCB93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050708E7-5C36-2E25-7BF5-4B732AEC6B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4015" y="3924299"/>
            <a:ext cx="4930116" cy="1792011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0"/>
            <a:endParaRPr lang="da-DK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7C19936-2EE4-A457-D40D-5E560DC35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15" y="939800"/>
            <a:ext cx="6037947" cy="2489199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title</a:t>
            </a:r>
            <a:r>
              <a:rPr lang="da-DK" dirty="0"/>
              <a:t> style in the master.</a:t>
            </a:r>
          </a:p>
        </p:txBody>
      </p:sp>
    </p:spTree>
    <p:extLst>
      <p:ext uri="{BB962C8B-B14F-4D97-AF65-F5344CB8AC3E}">
        <p14:creationId xmlns:p14="http://schemas.microsoft.com/office/powerpoint/2010/main" val="190516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Header + subheader 0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9189806-2446-3A9D-6445-6988A7920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rcRect t="43664" r="78058" b="21777"/>
          <a:stretch>
            <a:fillRect/>
          </a:stretch>
        </p:blipFill>
        <p:spPr>
          <a:xfrm rot="7801604">
            <a:off x="355133" y="4025146"/>
            <a:ext cx="1874761" cy="326159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729A17F-D77C-9FBB-1C8E-4524DFCB93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050708E7-5C36-2E25-7BF5-4B732AEC6B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4015" y="3924299"/>
            <a:ext cx="4930116" cy="1792011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0"/>
            <a:endParaRPr lang="da-DK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7C19936-2EE4-A457-D40D-5E560DC35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15" y="939800"/>
            <a:ext cx="5231985" cy="2489199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title</a:t>
            </a:r>
            <a:r>
              <a:rPr lang="da-DK" dirty="0"/>
              <a:t> style in the master.</a:t>
            </a:r>
          </a:p>
        </p:txBody>
      </p:sp>
    </p:spTree>
    <p:extLst>
      <p:ext uri="{BB962C8B-B14F-4D97-AF65-F5344CB8AC3E}">
        <p14:creationId xmlns:p14="http://schemas.microsoft.com/office/powerpoint/2010/main" val="424886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Subheader + copy + phot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9189806-2446-3A9D-6445-6988A7920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rcRect t="48523" r="71517" b="21364"/>
          <a:stretch>
            <a:fillRect/>
          </a:stretch>
        </p:blipFill>
        <p:spPr>
          <a:xfrm rot="13068504">
            <a:off x="-545069" y="-479744"/>
            <a:ext cx="2433655" cy="28420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729A17F-D77C-9FBB-1C8E-4524DFCB93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050708E7-5C36-2E25-7BF5-4B732AEC6B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4015" y="939801"/>
            <a:ext cx="5914854" cy="2023207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0"/>
            <a:endParaRPr lang="da-DK" dirty="0"/>
          </a:p>
        </p:txBody>
      </p:sp>
      <p:sp>
        <p:nvSpPr>
          <p:cNvPr id="2" name="Pladsholder til tekst 2">
            <a:extLst>
              <a:ext uri="{FF2B5EF4-FFF2-40B4-BE49-F238E27FC236}">
                <a16:creationId xmlns:a16="http://schemas.microsoft.com/office/drawing/2014/main" id="{7E1FABC9-4D03-82F3-3512-BB296B9A4FA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463691" y="3301289"/>
            <a:ext cx="5315178" cy="2994004"/>
          </a:xfrm>
        </p:spPr>
        <p:txBody>
          <a:bodyPr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49BBB0A-4DB9-800C-1465-75E78E1462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015" y="3301288"/>
            <a:ext cx="357565" cy="357565"/>
          </a:xfrm>
          <a:prstGeom prst="rect">
            <a:avLst/>
          </a:prstGeom>
        </p:spPr>
      </p:pic>
      <p:sp>
        <p:nvSpPr>
          <p:cNvPr id="12" name="Kombinationskurve 11">
            <a:extLst>
              <a:ext uri="{FF2B5EF4-FFF2-40B4-BE49-F238E27FC236}">
                <a16:creationId xmlns:a16="http://schemas.microsoft.com/office/drawing/2014/main" id="{B8F383A3-DC2D-5718-44A0-CE1173F69C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92681" y="-1053937"/>
            <a:ext cx="5844902" cy="5844902"/>
          </a:xfrm>
          <a:custGeom>
            <a:avLst/>
            <a:gdLst>
              <a:gd name="csX0" fmla="*/ 2922451 w 5844902"/>
              <a:gd name="csY0" fmla="*/ 0 h 5844902"/>
              <a:gd name="csX1" fmla="*/ 5844902 w 5844902"/>
              <a:gd name="csY1" fmla="*/ 2922451 h 5844902"/>
              <a:gd name="csX2" fmla="*/ 2922451 w 5844902"/>
              <a:gd name="csY2" fmla="*/ 5844902 h 5844902"/>
              <a:gd name="csX3" fmla="*/ 0 w 5844902"/>
              <a:gd name="csY3" fmla="*/ 2922451 h 5844902"/>
              <a:gd name="csX4" fmla="*/ 2922451 w 5844902"/>
              <a:gd name="csY4" fmla="*/ 0 h 5844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44902" h="5844902">
                <a:moveTo>
                  <a:pt x="2922451" y="0"/>
                </a:moveTo>
                <a:cubicBezTo>
                  <a:pt x="4536476" y="0"/>
                  <a:pt x="5844902" y="1308426"/>
                  <a:pt x="5844902" y="2922451"/>
                </a:cubicBezTo>
                <a:cubicBezTo>
                  <a:pt x="5844902" y="4536476"/>
                  <a:pt x="4536476" y="5844902"/>
                  <a:pt x="2922451" y="5844902"/>
                </a:cubicBezTo>
                <a:cubicBezTo>
                  <a:pt x="1308426" y="5844902"/>
                  <a:pt x="0" y="4536476"/>
                  <a:pt x="0" y="2922451"/>
                </a:cubicBezTo>
                <a:cubicBezTo>
                  <a:pt x="0" y="1308426"/>
                  <a:pt x="1308426" y="0"/>
                  <a:pt x="29224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a-DK"/>
              <a:t>Klik på ikonet for at tilføje et billede</a:t>
            </a:r>
          </a:p>
        </p:txBody>
      </p:sp>
    </p:spTree>
    <p:extLst>
      <p:ext uri="{BB962C8B-B14F-4D97-AF65-F5344CB8AC3E}">
        <p14:creationId xmlns:p14="http://schemas.microsoft.com/office/powerpoint/2010/main" val="204428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ame slide - Headline + subheader + Freme slide + Headline + subheader +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0A3A6FF1-836B-676E-DE45-85B9DB1B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6CD5E9C-1C7A-E032-CF3C-F158FD6AB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8" b="24943"/>
          <a:stretch>
            <a:fillRect/>
          </a:stretch>
        </p:blipFill>
        <p:spPr>
          <a:xfrm rot="5400000">
            <a:off x="2202890" y="1977111"/>
            <a:ext cx="2677999" cy="7083780"/>
          </a:xfrm>
          <a:prstGeom prst="rect">
            <a:avLst/>
          </a:prstGeom>
        </p:spPr>
      </p:pic>
      <p:sp>
        <p:nvSpPr>
          <p:cNvPr id="4" name="Afrundet rektangel 3">
            <a:extLst>
              <a:ext uri="{FF2B5EF4-FFF2-40B4-BE49-F238E27FC236}">
                <a16:creationId xmlns:a16="http://schemas.microsoft.com/office/drawing/2014/main" id="{10648FE4-40FF-F5CB-120F-92483DDFFD5E}"/>
              </a:ext>
            </a:extLst>
          </p:cNvPr>
          <p:cNvSpPr/>
          <p:nvPr userDrawn="1"/>
        </p:nvSpPr>
        <p:spPr>
          <a:xfrm>
            <a:off x="215900" y="279400"/>
            <a:ext cx="11785600" cy="6362700"/>
          </a:xfrm>
          <a:prstGeom prst="roundRect">
            <a:avLst>
              <a:gd name="adj" fmla="val 361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DB28BD4-641D-8482-275F-1F828CBF2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74280" y="939800"/>
            <a:ext cx="4346913" cy="2489199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title</a:t>
            </a:r>
            <a:r>
              <a:rPr lang="da-DK" dirty="0"/>
              <a:t> style in the master.</a:t>
            </a:r>
          </a:p>
        </p:txBody>
      </p:sp>
      <p:sp>
        <p:nvSpPr>
          <p:cNvPr id="10" name="Pladsholder til tekst 2">
            <a:extLst>
              <a:ext uri="{FF2B5EF4-FFF2-40B4-BE49-F238E27FC236}">
                <a16:creationId xmlns:a16="http://schemas.microsoft.com/office/drawing/2014/main" id="{AAC58A16-705A-64E4-A1EF-CA214559F8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74281" y="3924299"/>
            <a:ext cx="3582142" cy="1792011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31B9DFC-79D9-E886-F29B-73A31FCD50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sp>
        <p:nvSpPr>
          <p:cNvPr id="3" name="Kombinationskurve 2">
            <a:extLst>
              <a:ext uri="{FF2B5EF4-FFF2-40B4-BE49-F238E27FC236}">
                <a16:creationId xmlns:a16="http://schemas.microsoft.com/office/drawing/2014/main" id="{DB075830-ACAC-3A2E-A77F-74D54A0044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8418" y="723173"/>
            <a:ext cx="5411649" cy="5411649"/>
          </a:xfrm>
          <a:custGeom>
            <a:avLst/>
            <a:gdLst>
              <a:gd name="csX0" fmla="*/ 2922451 w 5844902"/>
              <a:gd name="csY0" fmla="*/ 0 h 5844902"/>
              <a:gd name="csX1" fmla="*/ 5844902 w 5844902"/>
              <a:gd name="csY1" fmla="*/ 2922451 h 5844902"/>
              <a:gd name="csX2" fmla="*/ 2922451 w 5844902"/>
              <a:gd name="csY2" fmla="*/ 5844902 h 5844902"/>
              <a:gd name="csX3" fmla="*/ 0 w 5844902"/>
              <a:gd name="csY3" fmla="*/ 2922451 h 5844902"/>
              <a:gd name="csX4" fmla="*/ 2922451 w 5844902"/>
              <a:gd name="csY4" fmla="*/ 0 h 5844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44902" h="5844902">
                <a:moveTo>
                  <a:pt x="2922451" y="0"/>
                </a:moveTo>
                <a:cubicBezTo>
                  <a:pt x="4536476" y="0"/>
                  <a:pt x="5844902" y="1308426"/>
                  <a:pt x="5844902" y="2922451"/>
                </a:cubicBezTo>
                <a:cubicBezTo>
                  <a:pt x="5844902" y="4536476"/>
                  <a:pt x="4536476" y="5844902"/>
                  <a:pt x="2922451" y="5844902"/>
                </a:cubicBezTo>
                <a:cubicBezTo>
                  <a:pt x="1308426" y="5844902"/>
                  <a:pt x="0" y="4536476"/>
                  <a:pt x="0" y="2922451"/>
                </a:cubicBezTo>
                <a:cubicBezTo>
                  <a:pt x="0" y="1308426"/>
                  <a:pt x="1308426" y="0"/>
                  <a:pt x="292245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a-DK"/>
              <a:t>Klik på ikonet for at tilføje et billede</a:t>
            </a:r>
          </a:p>
        </p:txBody>
      </p:sp>
    </p:spTree>
    <p:extLst>
      <p:ext uri="{BB962C8B-B14F-4D97-AF65-F5344CB8AC3E}">
        <p14:creationId xmlns:p14="http://schemas.microsoft.com/office/powerpoint/2010/main" val="12125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Copy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9189806-2446-3A9D-6445-6988A7920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rcRect l="31667" t="72985" r="29221"/>
          <a:stretch>
            <a:fillRect/>
          </a:stretch>
        </p:blipFill>
        <p:spPr>
          <a:xfrm rot="15014562">
            <a:off x="-602902" y="4320641"/>
            <a:ext cx="3341823" cy="25496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729A17F-D77C-9FBB-1C8E-4524DFCB93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sp>
        <p:nvSpPr>
          <p:cNvPr id="8" name="Pladsholder til tekst 2">
            <a:extLst>
              <a:ext uri="{FF2B5EF4-FFF2-40B4-BE49-F238E27FC236}">
                <a16:creationId xmlns:a16="http://schemas.microsoft.com/office/drawing/2014/main" id="{82066FE1-157C-A1C1-D773-341047DA3C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74280" y="883403"/>
            <a:ext cx="3593699" cy="4832907"/>
          </a:xfrm>
        </p:spPr>
        <p:txBody>
          <a:bodyPr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0FDC154-C486-E95C-B1EC-709E1D434B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4604" y="883403"/>
            <a:ext cx="357565" cy="35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37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Headline + subheader + bullets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A545700-45A6-A6A0-EEF9-ADD93CE68E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961" t="63591"/>
          <a:stretch>
            <a:fillRect/>
          </a:stretch>
        </p:blipFill>
        <p:spPr>
          <a:xfrm rot="5400000">
            <a:off x="7609822" y="1145911"/>
            <a:ext cx="5728089" cy="3436267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11EF7376-8249-647B-237B-1CD7A8B0F4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939801"/>
            <a:ext cx="9534099" cy="1339375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title</a:t>
            </a:r>
            <a:r>
              <a:rPr lang="da-DK" dirty="0"/>
              <a:t> style in the master.</a:t>
            </a:r>
          </a:p>
        </p:txBody>
      </p:sp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96F219AF-805A-9DED-C28C-A1A2BC6E1CC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8" y="2488449"/>
            <a:ext cx="9534099" cy="595945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9C6782BA-8266-BDEC-6D25-8F74FE4AE3F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8198" y="3301289"/>
            <a:ext cx="9437916" cy="3017624"/>
          </a:xfrm>
        </p:spPr>
        <p:txBody>
          <a:bodyPr numCol="4" spcCol="360000"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endParaRPr lang="da-DK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Char char="•"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0"/>
            <a:endParaRPr lang="da-DK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7696EB5-76D8-70AC-1EAC-679D63C1E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56422" y="5958537"/>
            <a:ext cx="1005839" cy="44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09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ame slide - Headline + subheader + copy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0A3A6FF1-836B-676E-DE45-85B9DB1B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9D425C4-F98D-B443-BBB7-9C516AC9F0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632" t="57107"/>
          <a:stretch>
            <a:fillRect/>
          </a:stretch>
        </p:blipFill>
        <p:spPr>
          <a:xfrm rot="5400000">
            <a:off x="7750518" y="402780"/>
            <a:ext cx="4987137" cy="4048227"/>
          </a:xfrm>
          <a:prstGeom prst="rect">
            <a:avLst/>
          </a:prstGeom>
        </p:spPr>
      </p:pic>
      <p:sp>
        <p:nvSpPr>
          <p:cNvPr id="4" name="Afrundet rektangel 3">
            <a:extLst>
              <a:ext uri="{FF2B5EF4-FFF2-40B4-BE49-F238E27FC236}">
                <a16:creationId xmlns:a16="http://schemas.microsoft.com/office/drawing/2014/main" id="{10648FE4-40FF-F5CB-120F-92483DDFFD5E}"/>
              </a:ext>
            </a:extLst>
          </p:cNvPr>
          <p:cNvSpPr/>
          <p:nvPr userDrawn="1"/>
        </p:nvSpPr>
        <p:spPr>
          <a:xfrm>
            <a:off x="215900" y="279400"/>
            <a:ext cx="11785600" cy="6362700"/>
          </a:xfrm>
          <a:prstGeom prst="roundRect">
            <a:avLst>
              <a:gd name="adj" fmla="val 361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DB28BD4-641D-8482-275F-1F828CBF2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39801"/>
            <a:ext cx="9286624" cy="1366671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title</a:t>
            </a:r>
            <a:r>
              <a:rPr lang="da-DK" dirty="0"/>
              <a:t> style in the master.</a:t>
            </a:r>
          </a:p>
        </p:txBody>
      </p:sp>
      <p:sp>
        <p:nvSpPr>
          <p:cNvPr id="10" name="Pladsholder til tekst 2">
            <a:extLst>
              <a:ext uri="{FF2B5EF4-FFF2-40B4-BE49-F238E27FC236}">
                <a16:creationId xmlns:a16="http://schemas.microsoft.com/office/drawing/2014/main" id="{AAC58A16-705A-64E4-A1EF-CA214559F8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015" y="2585871"/>
            <a:ext cx="9286624" cy="131039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22DD40-1173-8463-CDBD-3B0F76D6B0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5391F964-A2F1-3DD7-BACD-854462D2223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437876" y="4192908"/>
            <a:ext cx="8688763" cy="2016823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918E221A-DDB7-2624-DE3B-F6439333151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4192908"/>
            <a:ext cx="357565" cy="35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4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Headline + subheader + cop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761007C-B460-7949-8124-CF26CF2677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56422" y="5958537"/>
            <a:ext cx="1005839" cy="441338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5C2B70E5-8011-601C-1B93-A857D4ABDC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939801"/>
            <a:ext cx="11270065" cy="716879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title</a:t>
            </a:r>
            <a:r>
              <a:rPr lang="da-DK" dirty="0"/>
              <a:t> style.</a:t>
            </a:r>
          </a:p>
        </p:txBody>
      </p:sp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7734D659-DCA3-1AF5-49F9-0B1455D2A61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9" y="2009892"/>
            <a:ext cx="3406255" cy="131039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sp>
        <p:nvSpPr>
          <p:cNvPr id="8" name="Pladsholder til tekst 2">
            <a:extLst>
              <a:ext uri="{FF2B5EF4-FFF2-40B4-BE49-F238E27FC236}">
                <a16:creationId xmlns:a16="http://schemas.microsoft.com/office/drawing/2014/main" id="{27437A0C-982A-42E9-5D6C-2FF8378BDEA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437875" y="3769828"/>
            <a:ext cx="2806579" cy="2480847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F60B26FF-D90C-5B88-C000-06269A7DC6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99" y="3769828"/>
            <a:ext cx="357565" cy="357565"/>
          </a:xfrm>
          <a:prstGeom prst="rect">
            <a:avLst/>
          </a:prstGeom>
        </p:spPr>
      </p:pic>
      <p:pic>
        <p:nvPicPr>
          <p:cNvPr id="10" name="Grafik 3">
            <a:extLst>
              <a:ext uri="{FF2B5EF4-FFF2-40B4-BE49-F238E27FC236}">
                <a16:creationId xmlns:a16="http://schemas.microsoft.com/office/drawing/2014/main" id="{B7360978-74F0-7F6A-6315-024E5C1A3A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60000"/>
          </a:blip>
          <a:srcRect t="15722" r="56494" b="30639"/>
          <a:stretch>
            <a:fillRect/>
          </a:stretch>
        </p:blipFill>
        <p:spPr>
          <a:xfrm rot="17620134">
            <a:off x="8547851" y="-1114486"/>
            <a:ext cx="3717348" cy="5062329"/>
          </a:xfrm>
          <a:prstGeom prst="rect">
            <a:avLst/>
          </a:prstGeom>
        </p:spPr>
      </p:pic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2411C3A0-4128-B9D2-2CE7-7337DE37202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79723" y="2004726"/>
            <a:ext cx="2806579" cy="4240783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  <p:sp>
        <p:nvSpPr>
          <p:cNvPr id="12" name="Pladsholder til tekst 2">
            <a:extLst>
              <a:ext uri="{FF2B5EF4-FFF2-40B4-BE49-F238E27FC236}">
                <a16:creationId xmlns:a16="http://schemas.microsoft.com/office/drawing/2014/main" id="{76CE63A6-2CFB-DA32-49D4-8ED845FC69B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721571" y="2004726"/>
            <a:ext cx="2806579" cy="4240783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/>
            </a:pPr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</p:txBody>
      </p:sp>
    </p:spTree>
    <p:extLst>
      <p:ext uri="{BB962C8B-B14F-4D97-AF65-F5344CB8AC3E}">
        <p14:creationId xmlns:p14="http://schemas.microsoft.com/office/powerpoint/2010/main" val="417550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0BBD481-2906-4B75-8061-F13182CD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title</a:t>
            </a:r>
            <a:r>
              <a:rPr lang="da-DK" dirty="0"/>
              <a:t> style in the master.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C0E25F7-4226-9161-F1D3-B582E50B0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1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2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3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4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the </a:t>
            </a:r>
            <a:r>
              <a:rPr lang="da-DK" dirty="0" err="1"/>
              <a:t>text</a:t>
            </a:r>
            <a:r>
              <a:rPr lang="da-DK" dirty="0"/>
              <a:t> styles in the master.</a:t>
            </a:r>
          </a:p>
          <a:p>
            <a:pPr lvl="4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7348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4" r:id="rId9"/>
    <p:sldLayoutId id="2147483795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Miguer Sans SemBd" pitchFamily="2" charset="77"/>
          <a:ea typeface="Century Gothic" pitchFamily="2" charset="7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entury Gothic" panose="020B0604020202020204" pitchFamily="34" charset="0"/>
        <a:buChar char="•"/>
        <a:defRPr sz="2800" b="0" i="0" kern="1200">
          <a:solidFill>
            <a:schemeClr val="tx1"/>
          </a:solidFill>
          <a:latin typeface="Century Gothic" panose="020B05020202040203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604020202020204" pitchFamily="34" charset="0"/>
        <a:buChar char="•"/>
        <a:defRPr sz="2400" b="0" i="0" kern="1200">
          <a:solidFill>
            <a:schemeClr val="tx1"/>
          </a:solidFill>
          <a:latin typeface="Century Gothic" panose="020B05020202040203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604020202020204" pitchFamily="34" charset="0"/>
        <a:buChar char="•"/>
        <a:defRPr sz="2000" b="0" i="0" kern="1200">
          <a:solidFill>
            <a:schemeClr val="tx1"/>
          </a:solidFill>
          <a:latin typeface="Century Gothic" panose="020B05020202040203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604020202020204" pitchFamily="34" charset="0"/>
        <a:buChar char="•"/>
        <a:defRPr sz="1800" b="0" i="0" kern="1200">
          <a:solidFill>
            <a:schemeClr val="tx1"/>
          </a:solidFill>
          <a:latin typeface="Century Gothic" panose="020B05020202040203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604020202020204" pitchFamily="34" charset="0"/>
        <a:buChar char="•"/>
        <a:defRPr sz="1800" b="0" i="0" kern="1200">
          <a:solidFill>
            <a:schemeClr val="tx1"/>
          </a:solidFill>
          <a:latin typeface="Century Gothic" panose="020B05020202040203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gn.com/dk/moed-netvaerkslederne/?_gl=1*tvccby*_up*MQ..*_ga*MTIzNTk2MTc0NS4xNzgxNjE3NTY2*_ga_BGERWB1YYC*czE3ODE2MTc1NjUkbzEkZzAkdDE3ODE2MTc1NjUkajYwJGwwJGgxMDMzMDU1Mjc2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gngroup-my.sharepoint.com/:w:/g/personal/rlf_egn_com/IQDEGX8rjbXZSqxd5R8tPw-oAeOx673NkffnbNA8N9-9mIM?e=vXKXxg" TargetMode="External"/><Relationship Id="rId2" Type="http://schemas.openxmlformats.org/officeDocument/2006/relationships/hyperlink" Target="https://egngroup-my.sharepoint.com/:w:/g/personal/rlf_egn_com/IQBw6KvS9EVOTpBlMO1tfMUdATm6Vz4jC6LzhUpMiGWWi_A?e=kPKFGB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gngroup-my.sharepoint.com/:w:/g/personal/rlf_egn_com/IQBBCQlQFacHQ7E74lc5GEqFAb5EvgkaPoFRxXsj6PLq1nU?e=zNyBmJ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egngroup-my.sharepoint.com/:w:/g/personal/rlf_egn_com/IQCU1ABNmIE0Qaz_uZE2Aay8AXw4D6nYOP7HMcRBaY6MXPQ?e=lUAW78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C507-18F0-97DA-09CD-FFBE41DE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500425E-1CD2-1510-0097-E50A5BAE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6A146C6D-681A-AF23-5D0E-6437E14E8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1" name="Pladsholder til billede 10">
            <a:extLst>
              <a:ext uri="{FF2B5EF4-FFF2-40B4-BE49-F238E27FC236}">
                <a16:creationId xmlns:a16="http://schemas.microsoft.com/office/drawing/2014/main" id="{36B75DD8-73EF-86A1-B251-120B991BEBF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0 w 12441382"/>
              <a:gd name="csY0" fmla="*/ 0 h 6858001"/>
              <a:gd name="csX1" fmla="*/ 12441382 w 12441382"/>
              <a:gd name="csY1" fmla="*/ 0 h 6858001"/>
              <a:gd name="csX2" fmla="*/ 12441382 w 12441382"/>
              <a:gd name="csY2" fmla="*/ 1346042 h 6858001"/>
              <a:gd name="csX3" fmla="*/ 12408065 w 12441382"/>
              <a:gd name="csY3" fmla="*/ 1490395 h 6858001"/>
              <a:gd name="csX4" fmla="*/ 8745268 w 12441382"/>
              <a:gd name="csY4" fmla="*/ 6673146 h 6858001"/>
              <a:gd name="csX5" fmla="*/ 8456922 w 12441382"/>
              <a:gd name="csY5" fmla="*/ 6858001 h 6858001"/>
              <a:gd name="csX6" fmla="*/ 0 w 12441382"/>
              <a:gd name="csY6" fmla="*/ 6858001 h 6858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441382" h="6858001">
                <a:moveTo>
                  <a:pt x="0" y="0"/>
                </a:moveTo>
                <a:lnTo>
                  <a:pt x="12441382" y="0"/>
                </a:lnTo>
                <a:lnTo>
                  <a:pt x="12441382" y="1346042"/>
                </a:lnTo>
                <a:lnTo>
                  <a:pt x="12408065" y="1490395"/>
                </a:lnTo>
                <a:cubicBezTo>
                  <a:pt x="11856453" y="3634340"/>
                  <a:pt x="10530121" y="5467323"/>
                  <a:pt x="8745268" y="6673146"/>
                </a:cubicBezTo>
                <a:lnTo>
                  <a:pt x="8456922" y="6858001"/>
                </a:lnTo>
                <a:lnTo>
                  <a:pt x="0" y="6858001"/>
                </a:lnTo>
                <a:close/>
              </a:path>
            </a:pathLst>
          </a:cu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06D257D-C0D6-624D-B068-95995B79D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4400" b="34151"/>
          <a:stretch>
            <a:fillRect/>
          </a:stretch>
        </p:blipFill>
        <p:spPr>
          <a:xfrm rot="5400000">
            <a:off x="909860" y="-1159245"/>
            <a:ext cx="3896271" cy="6214759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11A49ACE-36C7-C0CD-7F4D-9FA498CD0B32}"/>
              </a:ext>
            </a:extLst>
          </p:cNvPr>
          <p:cNvSpPr txBox="1"/>
          <p:nvPr/>
        </p:nvSpPr>
        <p:spPr>
          <a:xfrm>
            <a:off x="-12172950" y="-5791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9580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4B2D-316A-0E4D-9ABA-AA15EEB7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ladsholder til billede 10">
            <a:extLst>
              <a:ext uri="{FF2B5EF4-FFF2-40B4-BE49-F238E27FC236}">
                <a16:creationId xmlns:a16="http://schemas.microsoft.com/office/drawing/2014/main" id="{74A17D7B-DDA0-7FC7-E1E7-17C17A0048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0 w 12441382"/>
              <a:gd name="csY0" fmla="*/ 0 h 6858001"/>
              <a:gd name="csX1" fmla="*/ 12441382 w 12441382"/>
              <a:gd name="csY1" fmla="*/ 0 h 6858001"/>
              <a:gd name="csX2" fmla="*/ 12441382 w 12441382"/>
              <a:gd name="csY2" fmla="*/ 1346042 h 6858001"/>
              <a:gd name="csX3" fmla="*/ 12408065 w 12441382"/>
              <a:gd name="csY3" fmla="*/ 1490395 h 6858001"/>
              <a:gd name="csX4" fmla="*/ 8745268 w 12441382"/>
              <a:gd name="csY4" fmla="*/ 6673146 h 6858001"/>
              <a:gd name="csX5" fmla="*/ 8456922 w 12441382"/>
              <a:gd name="csY5" fmla="*/ 6858001 h 6858001"/>
              <a:gd name="csX6" fmla="*/ 0 w 12441382"/>
              <a:gd name="csY6" fmla="*/ 6858001 h 6858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441382" h="6858001">
                <a:moveTo>
                  <a:pt x="0" y="0"/>
                </a:moveTo>
                <a:lnTo>
                  <a:pt x="12441382" y="0"/>
                </a:lnTo>
                <a:lnTo>
                  <a:pt x="12441382" y="1346042"/>
                </a:lnTo>
                <a:lnTo>
                  <a:pt x="12408065" y="1490395"/>
                </a:lnTo>
                <a:cubicBezTo>
                  <a:pt x="11856453" y="3634340"/>
                  <a:pt x="10530121" y="5467323"/>
                  <a:pt x="8745268" y="6673146"/>
                </a:cubicBezTo>
                <a:lnTo>
                  <a:pt x="8456922" y="6858001"/>
                </a:lnTo>
                <a:lnTo>
                  <a:pt x="0" y="6858001"/>
                </a:lnTo>
                <a:close/>
              </a:path>
            </a:pathLst>
          </a:cu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E92B1F53-44D5-8290-5475-BB60D3D8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Projekt: Group DNA – Update via AI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BF2F513B-A5A2-A9FF-2CAA-9D6071786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7EC29C1-F8DB-EB00-B8FE-2A22FF519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4400" b="34151"/>
          <a:stretch>
            <a:fillRect/>
          </a:stretch>
        </p:blipFill>
        <p:spPr>
          <a:xfrm rot="5400000">
            <a:off x="909860" y="-1159245"/>
            <a:ext cx="3896271" cy="6214759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801794CC-A752-4CE7-FE26-3804EB48822C}"/>
              </a:ext>
            </a:extLst>
          </p:cNvPr>
          <p:cNvSpPr txBox="1"/>
          <p:nvPr/>
        </p:nvSpPr>
        <p:spPr>
          <a:xfrm>
            <a:off x="-12172950" y="-5791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230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A85468F-B2D5-C193-93E7-4BE8730F30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1977922 w 7296150"/>
              <a:gd name="csY0" fmla="*/ 0 h 6858000"/>
              <a:gd name="csX1" fmla="*/ 7058891 w 7296150"/>
              <a:gd name="csY1" fmla="*/ 0 h 6858000"/>
              <a:gd name="csX2" fmla="*/ 7221841 w 7296150"/>
              <a:gd name="csY2" fmla="*/ 115876 h 6858000"/>
              <a:gd name="csX3" fmla="*/ 7296150 w 7296150"/>
              <a:gd name="csY3" fmla="*/ 174272 h 6858000"/>
              <a:gd name="csX4" fmla="*/ 7296150 w 7296150"/>
              <a:gd name="csY4" fmla="*/ 6858000 h 6858000"/>
              <a:gd name="csX5" fmla="*/ 1253211 w 7296150"/>
              <a:gd name="csY5" fmla="*/ 6858000 h 6858000"/>
              <a:gd name="csX6" fmla="*/ 1173800 w 7296150"/>
              <a:gd name="csY6" fmla="*/ 6774710 h 6858000"/>
              <a:gd name="csX7" fmla="*/ 0 w 7296150"/>
              <a:gd name="csY7" fmla="*/ 3736635 h 6858000"/>
              <a:gd name="csX8" fmla="*/ 1814972 w 7296150"/>
              <a:gd name="csY8" fmla="*/ 115876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296150" h="6858000">
                <a:moveTo>
                  <a:pt x="1977922" y="0"/>
                </a:moveTo>
                <a:lnTo>
                  <a:pt x="7058891" y="0"/>
                </a:lnTo>
                <a:lnTo>
                  <a:pt x="7221841" y="115876"/>
                </a:lnTo>
                <a:lnTo>
                  <a:pt x="7296150" y="174272"/>
                </a:lnTo>
                <a:lnTo>
                  <a:pt x="7296150" y="6858000"/>
                </a:lnTo>
                <a:lnTo>
                  <a:pt x="1253211" y="6858000"/>
                </a:lnTo>
                <a:lnTo>
                  <a:pt x="1173800" y="6774710"/>
                </a:lnTo>
                <a:cubicBezTo>
                  <a:pt x="444498" y="5972299"/>
                  <a:pt x="0" y="4906376"/>
                  <a:pt x="0" y="3736635"/>
                </a:cubicBezTo>
                <a:cubicBezTo>
                  <a:pt x="0" y="2254964"/>
                  <a:pt x="713172" y="939862"/>
                  <a:pt x="1814972" y="115876"/>
                </a:cubicBezTo>
                <a:close/>
              </a:path>
            </a:pathLst>
          </a:cu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11788B6-E257-801A-EF05-C4C53851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F86D902-E0E3-631A-5FB7-186217222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56422" y="5958537"/>
            <a:ext cx="1005839" cy="44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9AE958-9FDE-B762-95BA-B35840E8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Gruppeoversigt.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3203DD16-8165-8619-5FA0-A451B644ECF7}"/>
              </a:ext>
            </a:extLst>
          </p:cNvPr>
          <p:cNvGraphicFramePr>
            <a:graphicFrameLocks noGrp="1"/>
          </p:cNvGraphicFramePr>
          <p:nvPr/>
        </p:nvGraphicFramePr>
        <p:xfrm>
          <a:off x="1350444" y="2039942"/>
          <a:ext cx="8873056" cy="411751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6871">
                  <a:extLst>
                    <a:ext uri="{9D8B030D-6E8A-4147-A177-3AD203B41FA5}">
                      <a16:colId xmlns:a16="http://schemas.microsoft.com/office/drawing/2014/main" val="133972773"/>
                    </a:ext>
                  </a:extLst>
                </a:gridCol>
                <a:gridCol w="1837979">
                  <a:extLst>
                    <a:ext uri="{9D8B030D-6E8A-4147-A177-3AD203B41FA5}">
                      <a16:colId xmlns:a16="http://schemas.microsoft.com/office/drawing/2014/main" val="2263824822"/>
                    </a:ext>
                  </a:extLst>
                </a:gridCol>
                <a:gridCol w="2047634">
                  <a:extLst>
                    <a:ext uri="{9D8B030D-6E8A-4147-A177-3AD203B41FA5}">
                      <a16:colId xmlns:a16="http://schemas.microsoft.com/office/drawing/2014/main" val="3463050611"/>
                    </a:ext>
                  </a:extLst>
                </a:gridCol>
                <a:gridCol w="1156622">
                  <a:extLst>
                    <a:ext uri="{9D8B030D-6E8A-4147-A177-3AD203B41FA5}">
                      <a16:colId xmlns:a16="http://schemas.microsoft.com/office/drawing/2014/main" val="211554868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050380674"/>
                    </a:ext>
                  </a:extLst>
                </a:gridCol>
              </a:tblGrid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1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Group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1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Chair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1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Sales </a:t>
                      </a:r>
                      <a:r>
                        <a:rPr lang="da-DK" sz="1000" b="1" i="0" kern="1200" dirty="0" err="1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Responsible</a:t>
                      </a:r>
                      <a:endParaRPr lang="da-DK" sz="1000" b="1" i="0" kern="1200" dirty="0">
                        <a:solidFill>
                          <a:schemeClr val="tx1"/>
                        </a:solidFill>
                        <a:latin typeface="Century Gothic" panose="020B0502020204020303" pitchFamily="34" charset="77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1" i="0" kern="1200" dirty="0" err="1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Leadership</a:t>
                      </a:r>
                      <a:r>
                        <a:rPr lang="da-DK" sz="1000" b="1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000" b="1" i="0" kern="1200" dirty="0" err="1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level</a:t>
                      </a:r>
                      <a:endParaRPr lang="da-DK" sz="1000" b="1" i="0" kern="1200" dirty="0">
                        <a:solidFill>
                          <a:schemeClr val="tx1"/>
                        </a:solidFill>
                        <a:latin typeface="Century Gothic" panose="020B0502020204020303" pitchFamily="34" charset="77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1" i="0" kern="1200" dirty="0" err="1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Members</a:t>
                      </a:r>
                      <a:r>
                        <a:rPr lang="da-DK" sz="1000" b="1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 (11.juni)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1525315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Fyn 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Kenny R. M. Sørensen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5296049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Jylland 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97651479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Jylland 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12261609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Jylland 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0254922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Jylland 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5502605"/>
                  </a:ext>
                </a:extLst>
              </a:tr>
              <a:tr h="1049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Sjælland 3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Peter Jahn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0323700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Sjælland 5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Claus Wittenborg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8506162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Syd 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4317194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– </a:t>
                      </a:r>
                      <a:r>
                        <a:rPr lang="da-DK" sz="1000" b="0" i="0" kern="1200" dirty="0" err="1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Trekantsområdet</a:t>
                      </a: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/Fyn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00923231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Adm. Direktører Østjylland 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3440957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Board Inspiration Vest 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Øvrige (Board)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54323639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Ejerledere Midtjylland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68424962"/>
                  </a:ext>
                </a:extLst>
              </a:tr>
              <a:tr h="1741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Ejerledere Nordjylland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19570262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Ejerledere Syd-Midtjylland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5941637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Ejerledere Syddanmark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3478166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Ejerledere Vest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Ejerleder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9021181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Landedirektører Vest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Landedirektør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57509332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Landedirektører Øst 1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Peter Jahn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Landedirektør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1408538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Landedirektører Øst 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Peter Jahn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Landedirektør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6288551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Ledelse &amp; Udvikling – Vest 12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Kenny R. M. Sørensen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Øvrige (Leader)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9488706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Nordjyske Adm. direktører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Simon Vrabel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CEO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00494689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Topledelse (Sjælland 1)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Lars Folkmann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Topledelse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812882"/>
                  </a:ext>
                </a:extLst>
              </a:tr>
              <a:tr h="885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Topledelse og bestyrelse (Sjælland 2)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  <a:defRPr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Lars Folkmann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Topledelse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Century Gothic" panose="020B0604020202020204" pitchFamily="34" charset="0"/>
                        <a:buNone/>
                        <a:tabLst/>
                      </a:pPr>
                      <a:r>
                        <a:rPr lang="da-DK" sz="1000" b="0" i="0" kern="1200" dirty="0">
                          <a:solidFill>
                            <a:schemeClr val="tx1"/>
                          </a:solidFill>
                          <a:latin typeface="Century Gothic" panose="020B0502020204020303" pitchFamily="34" charset="77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1496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25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66688-EF2C-6600-3E75-4569747D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EGN Helt kort.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898E5374-D2A6-019B-266A-A60970A37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442713"/>
              </p:ext>
            </p:extLst>
          </p:nvPr>
        </p:nvGraphicFramePr>
        <p:xfrm>
          <a:off x="1415841" y="2306472"/>
          <a:ext cx="6127959" cy="4136655"/>
        </p:xfrm>
        <a:graphic>
          <a:graphicData uri="http://schemas.openxmlformats.org/drawingml/2006/table">
            <a:tbl>
              <a:tblPr firstRow="1" firstCol="1">
                <a:tableStyleId>{8799B23B-EC83-4686-B30A-512413B5E67A}</a:tableStyleId>
              </a:tblPr>
              <a:tblGrid>
                <a:gridCol w="1648321">
                  <a:extLst>
                    <a:ext uri="{9D8B030D-6E8A-4147-A177-3AD203B41FA5}">
                      <a16:colId xmlns:a16="http://schemas.microsoft.com/office/drawing/2014/main" val="3379239296"/>
                    </a:ext>
                  </a:extLst>
                </a:gridCol>
                <a:gridCol w="4479638">
                  <a:extLst>
                    <a:ext uri="{9D8B030D-6E8A-4147-A177-3AD203B41FA5}">
                      <a16:colId xmlns:a16="http://schemas.microsoft.com/office/drawing/2014/main" val="594187616"/>
                    </a:ext>
                  </a:extLst>
                </a:gridCol>
              </a:tblGrid>
              <a:tr h="32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 dirty="0"/>
                        <a:t>Hvordan værdien skabes</a:t>
                      </a:r>
                      <a:endParaRPr lang="da-DK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Gennem stærke relationer, tillid og åben dialog i gruppen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33128"/>
                  </a:ext>
                </a:extLst>
              </a:tr>
              <a:tr h="699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 dirty="0"/>
                        <a:t>Primær værdi</a:t>
                      </a:r>
                      <a:br>
                        <a:rPr lang="da-DK" sz="1000" dirty="0"/>
                      </a:br>
                      <a:r>
                        <a:rPr lang="da-DK" sz="1000" i="1" dirty="0"/>
                        <a:t>(medlemsudbytte)</a:t>
                      </a:r>
                      <a:endParaRPr lang="da-DK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a-DK" sz="1000" dirty="0"/>
                        <a:t>Bredere perspektiv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a-DK" sz="1000" dirty="0"/>
                        <a:t>Mindre følelse af at stå alene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a-DK" sz="1000" dirty="0"/>
                        <a:t>Fortrolige relationer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a-DK" sz="1000" dirty="0"/>
                        <a:t>Strategisk refleksion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a-DK" sz="1000" dirty="0"/>
                        <a:t>Styrket beslutningskraft gennem fælles erfaringer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786534"/>
                  </a:ext>
                </a:extLst>
              </a:tr>
              <a:tr h="199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/>
                        <a:t>Gruppestørrelse</a:t>
                      </a:r>
                      <a:endParaRPr lang="da-DK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Op til ca. 20 Medlemmer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519149"/>
                  </a:ext>
                </a:extLst>
              </a:tr>
              <a:tr h="44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/>
                        <a:t>Typisk profil</a:t>
                      </a:r>
                      <a:endParaRPr lang="da-DK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a-DK" sz="1000" dirty="0"/>
                        <a:t>Bredere profil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a-DK" sz="1000" dirty="0"/>
                        <a:t>Fra SMV til større virksomheder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da-DK" sz="1000" dirty="0"/>
                        <a:t>Store virksomheder med mere end 500 medarbejdere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922699"/>
                  </a:ext>
                </a:extLst>
              </a:tr>
              <a:tr h="261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/>
                        <a:t>Mødefrekvens</a:t>
                      </a:r>
                      <a:endParaRPr lang="da-DK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4 – 6 møder om året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296569"/>
                  </a:ext>
                </a:extLst>
              </a:tr>
              <a:tr h="391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/>
                        <a:t>1:1-sparring</a:t>
                      </a:r>
                      <a:endParaRPr lang="da-DK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Ikke en fast del af konceptet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766423"/>
                  </a:ext>
                </a:extLst>
              </a:tr>
              <a:tr h="199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/>
                        <a:t>Facilitering</a:t>
                      </a:r>
                      <a:endParaRPr lang="da-DK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Professionel facilitator leder gruppen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045093"/>
                  </a:ext>
                </a:extLst>
              </a:tr>
              <a:tr h="324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/>
                        <a:t>Deltagelsesmodel</a:t>
                      </a:r>
                      <a:endParaRPr lang="da-DK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Fast deltagelse i gruppen, men større fleksibilitet i hvordan og hvornår man bringer egne udfordringer 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299200"/>
                  </a:ext>
                </a:extLst>
              </a:tr>
              <a:tr h="313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/>
                        <a:t>Fokus i rummet</a:t>
                      </a:r>
                      <a:endParaRPr lang="da-DK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Sparring, perspektiv, erfaringsdeling og læring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009123"/>
                  </a:ext>
                </a:extLst>
              </a:tr>
              <a:tr h="199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/>
                        <a:t>Pris (DKK)</a:t>
                      </a:r>
                      <a:endParaRPr lang="da-DK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Fra 15.000 DKK + opstartsgebyr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538261"/>
                  </a:ext>
                </a:extLst>
              </a:tr>
              <a:tr h="199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b="1" dirty="0"/>
                        <a:t>Forretningsmodel</a:t>
                      </a:r>
                      <a:endParaRPr lang="da-DK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000" dirty="0"/>
                        <a:t>Salgsdrevet produkt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894557"/>
                  </a:ext>
                </a:extLst>
              </a:tr>
            </a:tbl>
          </a:graphicData>
        </a:graphic>
      </p:graphicFrame>
      <p:sp>
        <p:nvSpPr>
          <p:cNvPr id="3" name="Pladsholder til tekst 4">
            <a:extLst>
              <a:ext uri="{FF2B5EF4-FFF2-40B4-BE49-F238E27FC236}">
                <a16:creationId xmlns:a16="http://schemas.microsoft.com/office/drawing/2014/main" id="{947FC5A1-661A-4AE7-9632-53863CDA8D1E}"/>
              </a:ext>
            </a:extLst>
          </p:cNvPr>
          <p:cNvSpPr txBox="1">
            <a:spLocks/>
          </p:cNvSpPr>
          <p:nvPr/>
        </p:nvSpPr>
        <p:spPr>
          <a:xfrm>
            <a:off x="7805575" y="2839872"/>
            <a:ext cx="3653304" cy="42407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entury Gothic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500" dirty="0"/>
              <a:t>Salgsdrevet netværk for </a:t>
            </a:r>
            <a:r>
              <a:rPr lang="da-DK" sz="1500" dirty="0" err="1"/>
              <a:t>executives</a:t>
            </a:r>
            <a:r>
              <a:rPr lang="da-DK" sz="1500" dirty="0"/>
              <a:t> der ønsker: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Perspektiv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Relationer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Erfaringsudveksling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Refleksion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1500" dirty="0"/>
          </a:p>
          <a:p>
            <a:pPr marL="0" indent="0">
              <a:buNone/>
            </a:pPr>
            <a:r>
              <a:rPr lang="da-DK" sz="1500" b="1" dirty="0"/>
              <a:t>Kort sagt</a:t>
            </a:r>
          </a:p>
          <a:p>
            <a:r>
              <a:rPr lang="da-DK" sz="1500" dirty="0"/>
              <a:t>Fleksibilitet + perspektiv + relationer</a:t>
            </a:r>
          </a:p>
        </p:txBody>
      </p:sp>
    </p:spTree>
    <p:extLst>
      <p:ext uri="{BB962C8B-B14F-4D97-AF65-F5344CB8AC3E}">
        <p14:creationId xmlns:p14="http://schemas.microsoft.com/office/powerpoint/2010/main" val="2698615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E3E3AE3A-93D7-174B-764D-4BA5A23E9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015" y="939801"/>
            <a:ext cx="4539258" cy="2023207"/>
          </a:xfrm>
        </p:spPr>
        <p:txBody>
          <a:bodyPr/>
          <a:lstStyle/>
          <a:p>
            <a:r>
              <a:rPr lang="da-DK" sz="4000" b="1" dirty="0">
                <a:latin typeface="Miguer Sans SemBd" pitchFamily="2" charset="77"/>
                <a:ea typeface="Miguer Sans SemBd" pitchFamily="2" charset="77"/>
                <a:cs typeface="+mj-cs"/>
              </a:rPr>
              <a:t>EGN PERSONA.</a:t>
            </a:r>
          </a:p>
          <a:p>
            <a:endParaRPr lang="da-DK" sz="4000" b="1" dirty="0">
              <a:latin typeface="Miguer Sans SemBd" pitchFamily="2" charset="77"/>
              <a:ea typeface="Miguer Sans SemBd" pitchFamily="2" charset="77"/>
              <a:cs typeface="+mj-cs"/>
            </a:endParaRP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08624B5-0AE9-0892-3172-785B8E52317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da-DK" dirty="0"/>
              <a:t>Du søger kvalificeret sparring med ligesindede.</a:t>
            </a:r>
          </a:p>
          <a:p>
            <a:r>
              <a:rPr lang="da-DK" dirty="0"/>
              <a:t>Du motiveres af perspektiver og deling af erfaringer.</a:t>
            </a:r>
          </a:p>
          <a:p>
            <a:r>
              <a:rPr lang="da-DK" dirty="0"/>
              <a:t>Du vil have en fast, tillidsbaseret gruppe.</a:t>
            </a:r>
          </a:p>
          <a:p>
            <a:r>
              <a:rPr lang="da-DK" dirty="0"/>
              <a:t>Du vælger selv hvornår egne udfordringer bringes i spil. </a:t>
            </a:r>
          </a:p>
          <a:p>
            <a:endParaRPr lang="da-DK" dirty="0"/>
          </a:p>
          <a:p>
            <a:r>
              <a:rPr lang="da-DK" dirty="0"/>
              <a:t>Lærer gennem: dialog og relationer</a:t>
            </a:r>
          </a:p>
        </p:txBody>
      </p:sp>
      <p:pic>
        <p:nvPicPr>
          <p:cNvPr id="10" name="Pladsholder til billede 9">
            <a:extLst>
              <a:ext uri="{FF2B5EF4-FFF2-40B4-BE49-F238E27FC236}">
                <a16:creationId xmlns:a16="http://schemas.microsoft.com/office/drawing/2014/main" id="{2822F8BA-7D5E-82E3-6A99-4957CEBD04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1973" r="21973"/>
          <a:stretch>
            <a:fillRect/>
          </a:stretch>
        </p:blipFill>
        <p:spPr>
          <a:custGeom>
            <a:avLst/>
            <a:gdLst>
              <a:gd name="csX0" fmla="*/ 2922451 w 5844902"/>
              <a:gd name="csY0" fmla="*/ 0 h 5844902"/>
              <a:gd name="csX1" fmla="*/ 5844902 w 5844902"/>
              <a:gd name="csY1" fmla="*/ 2922451 h 5844902"/>
              <a:gd name="csX2" fmla="*/ 2922451 w 5844902"/>
              <a:gd name="csY2" fmla="*/ 5844902 h 5844902"/>
              <a:gd name="csX3" fmla="*/ 0 w 5844902"/>
              <a:gd name="csY3" fmla="*/ 2922451 h 5844902"/>
              <a:gd name="csX4" fmla="*/ 2922451 w 5844902"/>
              <a:gd name="csY4" fmla="*/ 0 h 5844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44902" h="5844902">
                <a:moveTo>
                  <a:pt x="2922451" y="0"/>
                </a:moveTo>
                <a:cubicBezTo>
                  <a:pt x="4536476" y="0"/>
                  <a:pt x="5844902" y="1308426"/>
                  <a:pt x="5844902" y="2922451"/>
                </a:cubicBezTo>
                <a:cubicBezTo>
                  <a:pt x="5844902" y="4536476"/>
                  <a:pt x="4536476" y="5844902"/>
                  <a:pt x="2922451" y="5844902"/>
                </a:cubicBezTo>
                <a:cubicBezTo>
                  <a:pt x="1308426" y="5844902"/>
                  <a:pt x="0" y="4536476"/>
                  <a:pt x="0" y="2922451"/>
                </a:cubicBezTo>
                <a:cubicBezTo>
                  <a:pt x="0" y="1308426"/>
                  <a:pt x="1308426" y="0"/>
                  <a:pt x="292245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709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EF0D-A3CF-473F-88FF-EB1B2A181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766F902-6E57-3680-B9CE-575D911E53C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1977922 w 7296150"/>
              <a:gd name="csY0" fmla="*/ 0 h 6858000"/>
              <a:gd name="csX1" fmla="*/ 7058891 w 7296150"/>
              <a:gd name="csY1" fmla="*/ 0 h 6858000"/>
              <a:gd name="csX2" fmla="*/ 7221841 w 7296150"/>
              <a:gd name="csY2" fmla="*/ 115876 h 6858000"/>
              <a:gd name="csX3" fmla="*/ 7296150 w 7296150"/>
              <a:gd name="csY3" fmla="*/ 174272 h 6858000"/>
              <a:gd name="csX4" fmla="*/ 7296150 w 7296150"/>
              <a:gd name="csY4" fmla="*/ 6858000 h 6858000"/>
              <a:gd name="csX5" fmla="*/ 1253211 w 7296150"/>
              <a:gd name="csY5" fmla="*/ 6858000 h 6858000"/>
              <a:gd name="csX6" fmla="*/ 1173800 w 7296150"/>
              <a:gd name="csY6" fmla="*/ 6774710 h 6858000"/>
              <a:gd name="csX7" fmla="*/ 0 w 7296150"/>
              <a:gd name="csY7" fmla="*/ 3736635 h 6858000"/>
              <a:gd name="csX8" fmla="*/ 1814972 w 7296150"/>
              <a:gd name="csY8" fmla="*/ 115876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296150" h="6858000">
                <a:moveTo>
                  <a:pt x="1977922" y="0"/>
                </a:moveTo>
                <a:lnTo>
                  <a:pt x="7058891" y="0"/>
                </a:lnTo>
                <a:lnTo>
                  <a:pt x="7221841" y="115876"/>
                </a:lnTo>
                <a:lnTo>
                  <a:pt x="7296150" y="174272"/>
                </a:lnTo>
                <a:lnTo>
                  <a:pt x="7296150" y="6858000"/>
                </a:lnTo>
                <a:lnTo>
                  <a:pt x="1253211" y="6858000"/>
                </a:lnTo>
                <a:lnTo>
                  <a:pt x="1173800" y="6774710"/>
                </a:lnTo>
                <a:cubicBezTo>
                  <a:pt x="444498" y="5972299"/>
                  <a:pt x="0" y="4906376"/>
                  <a:pt x="0" y="3736635"/>
                </a:cubicBezTo>
                <a:cubicBezTo>
                  <a:pt x="0" y="2254964"/>
                  <a:pt x="713172" y="939862"/>
                  <a:pt x="1814972" y="115876"/>
                </a:cubicBezTo>
                <a:close/>
              </a:path>
            </a:pathLst>
          </a:cu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B1CCB517-6AC5-A829-6BDC-D135293F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EGN CEO</a:t>
            </a:r>
            <a:br>
              <a:rPr lang="da-DK" dirty="0"/>
            </a:br>
            <a:r>
              <a:rPr lang="da-DK" dirty="0"/>
              <a:t>Gruppe DNA.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EA132DF-4B82-FE32-F103-27DC2F372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56422" y="5958537"/>
            <a:ext cx="1005839" cy="44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73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EDD64-3986-09DF-3B36-3F4C9166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Gruppe-DNA.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7E21B7A-8FA6-1D11-3A2C-23FB6A997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4280" y="2184399"/>
            <a:ext cx="4149302" cy="4133849"/>
          </a:xfrm>
        </p:spPr>
        <p:txBody>
          <a:bodyPr>
            <a:noAutofit/>
          </a:bodyPr>
          <a:lstStyle/>
          <a:p>
            <a:r>
              <a:rPr lang="da-DK" sz="1200" b="1" dirty="0"/>
              <a:t>Formål.</a:t>
            </a:r>
          </a:p>
          <a:p>
            <a:r>
              <a:rPr lang="da-DK" sz="1600" dirty="0"/>
              <a:t>Et stærkt gruppe-DNA er et </a:t>
            </a:r>
            <a:r>
              <a:rPr lang="da-DK" sz="1600" b="1" dirty="0"/>
              <a:t>værktøj</a:t>
            </a:r>
            <a:r>
              <a:rPr lang="da-DK" sz="1600" dirty="0"/>
              <a:t> til at sikre korrekt sammensætning, høj kvalitet i sparring og konsistent værdiskabelse for medlemmerne.</a:t>
            </a:r>
          </a:p>
          <a:p>
            <a:endParaRPr lang="da-DK" sz="1600" dirty="0"/>
          </a:p>
          <a:p>
            <a:r>
              <a:rPr lang="da-DK" sz="1600" dirty="0"/>
              <a:t>Det sikrer: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600" dirty="0"/>
              <a:t>høj målgruppeklarhed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600" dirty="0"/>
              <a:t>bedre match mellem medlemmer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600" dirty="0"/>
              <a:t>stærkere gruppeværdi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600" dirty="0"/>
              <a:t>højere kommerciel anvendelighed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1200" dirty="0"/>
          </a:p>
          <a:p>
            <a:endParaRPr lang="da-DK" sz="12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CEDB143-8CBA-ABC1-D8BC-3D5059F184A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2922451 w 5844902"/>
              <a:gd name="csY0" fmla="*/ 0 h 5844902"/>
              <a:gd name="csX1" fmla="*/ 5844902 w 5844902"/>
              <a:gd name="csY1" fmla="*/ 2922451 h 5844902"/>
              <a:gd name="csX2" fmla="*/ 2922451 w 5844902"/>
              <a:gd name="csY2" fmla="*/ 5844902 h 5844902"/>
              <a:gd name="csX3" fmla="*/ 0 w 5844902"/>
              <a:gd name="csY3" fmla="*/ 2922451 h 5844902"/>
              <a:gd name="csX4" fmla="*/ 2922451 w 5844902"/>
              <a:gd name="csY4" fmla="*/ 0 h 5844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44902" h="5844902">
                <a:moveTo>
                  <a:pt x="2922451" y="0"/>
                </a:moveTo>
                <a:cubicBezTo>
                  <a:pt x="4536476" y="0"/>
                  <a:pt x="5844902" y="1308426"/>
                  <a:pt x="5844902" y="2922451"/>
                </a:cubicBezTo>
                <a:cubicBezTo>
                  <a:pt x="5844902" y="4536476"/>
                  <a:pt x="4536476" y="5844902"/>
                  <a:pt x="2922451" y="5844902"/>
                </a:cubicBezTo>
                <a:cubicBezTo>
                  <a:pt x="1308426" y="5844902"/>
                  <a:pt x="0" y="4536476"/>
                  <a:pt x="0" y="2922451"/>
                </a:cubicBezTo>
                <a:cubicBezTo>
                  <a:pt x="0" y="1308426"/>
                  <a:pt x="1308426" y="0"/>
                  <a:pt x="292245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40142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F147B-7539-D76A-B552-89CEE22DD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A11616-C13B-1B8A-9955-EBB9F45A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4280" y="939800"/>
            <a:ext cx="4346913" cy="1414439"/>
          </a:xfrm>
        </p:spPr>
        <p:txBody>
          <a:bodyPr/>
          <a:lstStyle/>
          <a:p>
            <a:r>
              <a:rPr lang="da-DK" dirty="0"/>
              <a:t>Gruppe-DNA Template.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24018D4-F88F-B14A-394B-809B9CEF3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375" y="2354239"/>
            <a:ext cx="5536640" cy="4332363"/>
          </a:xfrm>
        </p:spPr>
        <p:txBody>
          <a:bodyPr>
            <a:normAutofit fontScale="32500" lnSpcReduction="20000"/>
          </a:bodyPr>
          <a:lstStyle/>
          <a:p>
            <a:r>
              <a:rPr lang="da-DK" b="1" noProof="0" dirty="0"/>
              <a:t>GRUPPEPROFIL.</a:t>
            </a:r>
          </a:p>
          <a:p>
            <a:r>
              <a:rPr lang="da-DK" b="1" noProof="0" dirty="0"/>
              <a:t>Hvem er gruppen for 	</a:t>
            </a:r>
            <a:r>
              <a:rPr lang="da-DK" noProof="0" dirty="0"/>
              <a:t>(Rolle + Niveau + Geografi) </a:t>
            </a:r>
          </a:p>
          <a:p>
            <a:r>
              <a:rPr lang="da-DK" b="1" noProof="0" dirty="0"/>
              <a:t>Hvad får man 		</a:t>
            </a:r>
            <a:r>
              <a:rPr lang="da-DK" noProof="0" dirty="0"/>
              <a:t>(Definerer value proposition: hvad køber medlemmet.)</a:t>
            </a:r>
          </a:p>
          <a:p>
            <a:r>
              <a:rPr lang="da-DK" b="1" noProof="0" dirty="0"/>
              <a:t>Hvad kendetegner gruppen 	</a:t>
            </a:r>
            <a:r>
              <a:rPr lang="da-DK" noProof="0" dirty="0"/>
              <a:t>(Skaber differentiering, hvorfor vælge denne gruppe)</a:t>
            </a:r>
          </a:p>
          <a:p>
            <a:r>
              <a:rPr lang="da-DK" b="1" noProof="0" dirty="0"/>
              <a:t>Udviklingsfokus</a:t>
            </a:r>
            <a:r>
              <a:rPr lang="da-DK" noProof="0" dirty="0"/>
              <a:t> 		(Sætter retning, hvad arbejdes der konkret med)</a:t>
            </a:r>
          </a:p>
          <a:p>
            <a:endParaRPr lang="da-DK" noProof="0" dirty="0"/>
          </a:p>
          <a:p>
            <a:endParaRPr lang="da-DK" b="1" noProof="0" dirty="0"/>
          </a:p>
          <a:p>
            <a:r>
              <a:rPr lang="da-DK" b="1" noProof="0" dirty="0"/>
              <a:t>MEDLEMSPROFIL.</a:t>
            </a:r>
          </a:p>
          <a:p>
            <a:r>
              <a:rPr lang="da-DK" b="1" noProof="0" dirty="0"/>
              <a:t>Titler / erfaring 		</a:t>
            </a:r>
            <a:r>
              <a:rPr lang="da-DK" noProof="0" dirty="0"/>
              <a:t>(Sikrer homogent niveau og bedre kvalitet i sparring.)</a:t>
            </a:r>
          </a:p>
          <a:p>
            <a:r>
              <a:rPr lang="da-DK" b="1" noProof="0" dirty="0"/>
              <a:t>Ledelsesspænd</a:t>
            </a:r>
            <a:r>
              <a:rPr lang="da-DK" noProof="0" dirty="0"/>
              <a:t> 		(Sikre sammenlignelig organisatorisk kompleksitet)</a:t>
            </a:r>
          </a:p>
          <a:p>
            <a:r>
              <a:rPr lang="da-DK" b="1" noProof="0" dirty="0"/>
              <a:t>Matcher / matcher ikke 	</a:t>
            </a:r>
            <a:r>
              <a:rPr lang="da-DK" noProof="0" dirty="0"/>
              <a:t>(Gør det operationelt, hvem skal ind / ikke ind)</a:t>
            </a:r>
          </a:p>
          <a:p>
            <a:endParaRPr lang="da-DK" b="1" noProof="0" dirty="0"/>
          </a:p>
          <a:p>
            <a:r>
              <a:rPr lang="da-DK" b="1" noProof="0" dirty="0"/>
              <a:t>VIRKSOMHEDSPROFIL.</a:t>
            </a:r>
          </a:p>
          <a:p>
            <a:r>
              <a:rPr lang="da-DK" b="1" noProof="0" dirty="0"/>
              <a:t>Størrelse / type 		</a:t>
            </a:r>
            <a:r>
              <a:rPr lang="da-DK" noProof="0" dirty="0"/>
              <a:t>(Understøtter relevans, samme kompleksitet i dialogen)</a:t>
            </a:r>
          </a:p>
          <a:p>
            <a:r>
              <a:rPr lang="da-DK" b="1" noProof="0" dirty="0"/>
              <a:t>Branche / marked 	</a:t>
            </a:r>
            <a:r>
              <a:rPr lang="da-DK" noProof="0" dirty="0"/>
              <a:t>(Sikrer diversitet, men uden overlap)</a:t>
            </a:r>
          </a:p>
          <a:p>
            <a:r>
              <a:rPr lang="da-DK" b="1" noProof="0" dirty="0"/>
              <a:t>Matcher / matcher ikke 	</a:t>
            </a:r>
            <a:r>
              <a:rPr lang="da-DK" noProof="0" dirty="0"/>
              <a:t>(Sikrer gruppedynamik, undgår konflikter)</a:t>
            </a:r>
          </a:p>
          <a:p>
            <a:endParaRPr lang="da-DK" noProof="0" dirty="0"/>
          </a:p>
          <a:p>
            <a:r>
              <a:rPr lang="da-DK" b="1" noProof="0"/>
              <a:t>CHAIRPROFIL.</a:t>
            </a:r>
            <a:endParaRPr lang="da-DK" b="1" noProof="0" dirty="0"/>
          </a:p>
          <a:p>
            <a:r>
              <a:rPr lang="da-DK" noProof="0" dirty="0"/>
              <a:t>Link til hjemmeside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5016D9F-3522-5717-484F-C909477FC84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2922451 w 5844902"/>
              <a:gd name="csY0" fmla="*/ 0 h 5844902"/>
              <a:gd name="csX1" fmla="*/ 5844902 w 5844902"/>
              <a:gd name="csY1" fmla="*/ 2922451 h 5844902"/>
              <a:gd name="csX2" fmla="*/ 2922451 w 5844902"/>
              <a:gd name="csY2" fmla="*/ 5844902 h 5844902"/>
              <a:gd name="csX3" fmla="*/ 0 w 5844902"/>
              <a:gd name="csY3" fmla="*/ 2922451 h 5844902"/>
              <a:gd name="csX4" fmla="*/ 2922451 w 5844902"/>
              <a:gd name="csY4" fmla="*/ 0 h 5844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44902" h="5844902">
                <a:moveTo>
                  <a:pt x="2922451" y="0"/>
                </a:moveTo>
                <a:cubicBezTo>
                  <a:pt x="4536476" y="0"/>
                  <a:pt x="5844902" y="1308426"/>
                  <a:pt x="5844902" y="2922451"/>
                </a:cubicBezTo>
                <a:cubicBezTo>
                  <a:pt x="5844902" y="4536476"/>
                  <a:pt x="4536476" y="5844902"/>
                  <a:pt x="2922451" y="5844902"/>
                </a:cubicBezTo>
                <a:cubicBezTo>
                  <a:pt x="1308426" y="5844902"/>
                  <a:pt x="0" y="4536476"/>
                  <a:pt x="0" y="2922451"/>
                </a:cubicBezTo>
                <a:cubicBezTo>
                  <a:pt x="0" y="1308426"/>
                  <a:pt x="1308426" y="0"/>
                  <a:pt x="292245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72775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2B6C-5337-B020-7298-1C169DD3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3B2138-9026-F621-B977-C32F0AFE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Vurderingsramme.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F1F8D6E9-9353-9CF3-9915-1403641DC18F}"/>
              </a:ext>
            </a:extLst>
          </p:cNvPr>
          <p:cNvGraphicFramePr>
            <a:graphicFrameLocks noGrp="1"/>
          </p:cNvGraphicFramePr>
          <p:nvPr/>
        </p:nvGraphicFramePr>
        <p:xfrm>
          <a:off x="981075" y="2253302"/>
          <a:ext cx="10267950" cy="344264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69649">
                  <a:extLst>
                    <a:ext uri="{9D8B030D-6E8A-4147-A177-3AD203B41FA5}">
                      <a16:colId xmlns:a16="http://schemas.microsoft.com/office/drawing/2014/main" val="1148913483"/>
                    </a:ext>
                  </a:extLst>
                </a:gridCol>
                <a:gridCol w="1525311">
                  <a:extLst>
                    <a:ext uri="{9D8B030D-6E8A-4147-A177-3AD203B41FA5}">
                      <a16:colId xmlns:a16="http://schemas.microsoft.com/office/drawing/2014/main" val="627070611"/>
                    </a:ext>
                  </a:extLst>
                </a:gridCol>
                <a:gridCol w="8072990">
                  <a:extLst>
                    <a:ext uri="{9D8B030D-6E8A-4147-A177-3AD203B41FA5}">
                      <a16:colId xmlns:a16="http://schemas.microsoft.com/office/drawing/2014/main" val="3272382331"/>
                    </a:ext>
                  </a:extLst>
                </a:gridCol>
              </a:tblGrid>
              <a:tr h="408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Kategori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Kendetegn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819694"/>
                  </a:ext>
                </a:extLst>
              </a:tr>
              <a:tr h="8042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b="1" kern="100" dirty="0">
                          <a:solidFill>
                            <a:schemeClr val="bg1"/>
                          </a:solidFill>
                          <a:effectLst/>
                        </a:rPr>
                        <a:t>Meget stærk</a:t>
                      </a:r>
                      <a:endParaRPr lang="da-DK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Målgruppe er krystalklar (rolle + niveau + geografi). “Matcher / matcher ikke” er skarpt. Let at sige ja/nej. Klart differentieret og stærk value.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303742"/>
                  </a:ext>
                </a:extLst>
              </a:tr>
              <a:tr h="408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b="1" kern="100" dirty="0">
                          <a:solidFill>
                            <a:schemeClr val="bg1"/>
                          </a:solidFill>
                          <a:effectLst/>
                        </a:rPr>
                        <a:t>Stærk</a:t>
                      </a:r>
                      <a:endParaRPr lang="da-DK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Målgruppe er tydelig, men kan finpudses. God selektion. Kan bruges direkte i salg og matchning.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856618"/>
                  </a:ext>
                </a:extLst>
              </a:tr>
              <a:tr h="408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b="1" kern="100" dirty="0">
                          <a:solidFill>
                            <a:schemeClr val="bg1"/>
                          </a:solidFill>
                          <a:effectLst/>
                        </a:rPr>
                        <a:t>Middel</a:t>
                      </a:r>
                      <a:endParaRPr lang="da-DK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Målgruppe forståelig, men for bred. “Matcher / matcher ikke” er delvist tydelig. Kræver fortolkning.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060080"/>
                  </a:ext>
                </a:extLst>
              </a:tr>
              <a:tr h="6087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b="1" kern="100" dirty="0">
                          <a:solidFill>
                            <a:schemeClr val="bg1"/>
                          </a:solidFill>
                          <a:effectLst/>
                        </a:rPr>
                        <a:t>Svag</a:t>
                      </a:r>
                      <a:endParaRPr lang="da-DK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Målgruppe uklar eller meget bred. Svag selektion. Svært at fravælge kandidater. Mere beskrivelse end styring.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774027"/>
                  </a:ext>
                </a:extLst>
              </a:tr>
              <a:tr h="8042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b="1" kern="100" dirty="0">
                          <a:solidFill>
                            <a:schemeClr val="bg1"/>
                          </a:solidFill>
                          <a:effectLst/>
                        </a:rPr>
                        <a:t>Meget svag</a:t>
                      </a:r>
                      <a:endParaRPr lang="da-DK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200" kern="100" dirty="0">
                          <a:solidFill>
                            <a:schemeClr val="bg1"/>
                          </a:solidFill>
                          <a:effectLst/>
                        </a:rPr>
                        <a:t>Ingen reel målgruppe. Mangler “matcher / matcher ikke”. Kan ikke bruges til matchning eller kommercielt arbejde.</a:t>
                      </a:r>
                      <a:endParaRPr lang="da-DK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155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46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E304-4002-76CF-3A6D-4711FB2E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717C05-E4EE-05F2-92F2-F32CF25E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Kategorisering.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48EACC2-33E8-7960-7417-964D362EB4B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512673" y="2528598"/>
            <a:ext cx="2806579" cy="424078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a-DK" sz="1500" b="1" dirty="0"/>
              <a:t>Stærkt DNA. </a:t>
            </a:r>
            <a:r>
              <a:rPr lang="da-DK" sz="1500" dirty="0"/>
              <a:t>(4-5)</a:t>
            </a:r>
          </a:p>
          <a:p>
            <a:endParaRPr lang="da-DK" sz="1500" dirty="0"/>
          </a:p>
          <a:p>
            <a:r>
              <a:rPr lang="da-DK" sz="1500" dirty="0"/>
              <a:t>Effekt: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Høj kvalitet i grupper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Højere hit rate i rekruttering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Stærkere </a:t>
            </a:r>
            <a:r>
              <a:rPr lang="da-DK" sz="1500" dirty="0" err="1"/>
              <a:t>member</a:t>
            </a:r>
            <a:r>
              <a:rPr lang="da-DK" sz="1500" dirty="0"/>
              <a:t> </a:t>
            </a:r>
            <a:r>
              <a:rPr lang="da-DK" sz="1500" dirty="0" err="1"/>
              <a:t>outcomes</a:t>
            </a:r>
            <a:endParaRPr lang="da-DK" sz="1500" dirty="0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9ECCE1E1-B40A-971A-3330-3E40F77C153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21621" y="2528596"/>
            <a:ext cx="2806579" cy="4240783"/>
          </a:xfrm>
        </p:spPr>
        <p:txBody>
          <a:bodyPr>
            <a:noAutofit/>
          </a:bodyPr>
          <a:lstStyle/>
          <a:p>
            <a:r>
              <a:rPr lang="da-DK" sz="1500" b="1" dirty="0"/>
              <a:t>Svag DNA. </a:t>
            </a:r>
            <a:r>
              <a:rPr lang="da-DK" sz="1500" dirty="0"/>
              <a:t>(1-2)</a:t>
            </a:r>
          </a:p>
          <a:p>
            <a:endParaRPr lang="da-DK" sz="1500" b="1" dirty="0"/>
          </a:p>
          <a:p>
            <a:r>
              <a:rPr lang="da-DK" sz="1500" dirty="0"/>
              <a:t>Effekt: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Høj risiko for forkert sammensætning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Lavere gruppedynamik og værdi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Vanskelig rekruttering og positionering</a:t>
            </a:r>
          </a:p>
          <a:p>
            <a:endParaRPr lang="da-DK" sz="1500" dirty="0"/>
          </a:p>
        </p:txBody>
      </p:sp>
      <p:sp>
        <p:nvSpPr>
          <p:cNvPr id="7" name="Pladsholder til tekst 4">
            <a:extLst>
              <a:ext uri="{FF2B5EF4-FFF2-40B4-BE49-F238E27FC236}">
                <a16:creationId xmlns:a16="http://schemas.microsoft.com/office/drawing/2014/main" id="{85011E91-C8B6-3D37-EE0F-FA56A4D2455E}"/>
              </a:ext>
            </a:extLst>
          </p:cNvPr>
          <p:cNvSpPr txBox="1">
            <a:spLocks/>
          </p:cNvSpPr>
          <p:nvPr/>
        </p:nvSpPr>
        <p:spPr>
          <a:xfrm>
            <a:off x="4817147" y="2528597"/>
            <a:ext cx="2806579" cy="42407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18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500" b="1" dirty="0"/>
              <a:t>Middel DNA. </a:t>
            </a:r>
            <a:r>
              <a:rPr lang="da-DK" sz="1500" dirty="0"/>
              <a:t>(3)</a:t>
            </a:r>
          </a:p>
          <a:p>
            <a:endParaRPr lang="da-DK" sz="1500" dirty="0"/>
          </a:p>
          <a:p>
            <a:r>
              <a:rPr lang="da-DK" sz="1500" dirty="0"/>
              <a:t>Effekt: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Grupper fungerer, men er mindre skarpe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Større risiko for mismatch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500" dirty="0"/>
              <a:t>Sværere at skalere kommercielt</a:t>
            </a:r>
          </a:p>
          <a:p>
            <a:endParaRPr lang="da-DK" sz="1500" dirty="0"/>
          </a:p>
        </p:txBody>
      </p:sp>
    </p:spTree>
    <p:extLst>
      <p:ext uri="{BB962C8B-B14F-4D97-AF65-F5344CB8AC3E}">
        <p14:creationId xmlns:p14="http://schemas.microsoft.com/office/powerpoint/2010/main" val="1040405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3CF3C-7D4A-8FB6-2026-6AD2EA8F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14" y="939801"/>
            <a:ext cx="6952836" cy="845038"/>
          </a:xfrm>
        </p:spPr>
        <p:txBody>
          <a:bodyPr>
            <a:normAutofit/>
          </a:bodyPr>
          <a:lstStyle/>
          <a:p>
            <a:r>
              <a:rPr lang="da-DK" dirty="0"/>
              <a:t>Gruppeprofil.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B9E4B6A-F80D-90EF-A080-3818D0E94B9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93861" y="2205179"/>
            <a:ext cx="2859775" cy="4063736"/>
          </a:xfrm>
        </p:spPr>
        <p:txBody>
          <a:bodyPr>
            <a:normAutofit/>
          </a:bodyPr>
          <a:lstStyle/>
          <a:p>
            <a:r>
              <a:rPr lang="da-DK" sz="1200" b="1" dirty="0"/>
              <a:t>Gruppeprofil.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200" dirty="0"/>
              <a:t>Hvem er gruppen for (Rolle + Niveau + Geografi)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200" dirty="0"/>
              <a:t>Hvad får man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200" dirty="0"/>
              <a:t>Hvad kendetegner gruppen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200" dirty="0"/>
              <a:t>Udviklingsfokus</a:t>
            </a:r>
          </a:p>
          <a:p>
            <a:r>
              <a:rPr lang="da-DK" sz="1200" b="1" dirty="0"/>
              <a:t>Formål.</a:t>
            </a:r>
          </a:p>
          <a:p>
            <a:r>
              <a:rPr lang="da-DK" sz="1200" dirty="0"/>
              <a:t>Sikrer at målgruppen er tydelig og undgår mismatch.</a:t>
            </a:r>
          </a:p>
          <a:p>
            <a:endParaRPr lang="da-DK" b="1" dirty="0"/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20E282CB-46FB-9204-5E97-69B126188242}"/>
              </a:ext>
            </a:extLst>
          </p:cNvPr>
          <p:cNvSpPr txBox="1">
            <a:spLocks/>
          </p:cNvSpPr>
          <p:nvPr/>
        </p:nvSpPr>
        <p:spPr>
          <a:xfrm>
            <a:off x="5058202" y="2255221"/>
            <a:ext cx="8632778" cy="40637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8563F715-E774-CD26-5D42-F218934267CA}"/>
              </a:ext>
            </a:extLst>
          </p:cNvPr>
          <p:cNvSpPr txBox="1"/>
          <p:nvPr/>
        </p:nvSpPr>
        <p:spPr>
          <a:xfrm>
            <a:off x="5585347" y="2170743"/>
            <a:ext cx="6497472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b="1" dirty="0">
                <a:latin typeface="Century Gothic" panose="020B0502020204020303" pitchFamily="34" charset="77"/>
              </a:rPr>
              <a:t>EKSEMPLER.</a:t>
            </a:r>
          </a:p>
          <a:p>
            <a:endParaRPr lang="da-DK" sz="1100" b="1" dirty="0">
              <a:latin typeface="Century Gothic" panose="020B0502020204020303" pitchFamily="34" charset="77"/>
            </a:endParaRPr>
          </a:p>
          <a:p>
            <a:r>
              <a:rPr lang="da-DK" sz="1100" b="1" dirty="0"/>
              <a:t>Hvem er gruppen for. </a:t>
            </a:r>
            <a:r>
              <a:rPr lang="da-DK" sz="1100" dirty="0"/>
              <a:t>(Rolle + Niveau + Geografi)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/>
              <a:t>CEO / MD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/>
              <a:t>Ejerleder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/>
              <a:t>Første gang CEO vs. erfaren CEO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/>
              <a:t>Niveau: strategisk beslutningstager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/>
              <a:t>Geografi: Middelfart</a:t>
            </a:r>
          </a:p>
          <a:p>
            <a:endParaRPr lang="da-DK" sz="1100" b="1" dirty="0">
              <a:latin typeface="Century Gothic" panose="020B0502020204020303" pitchFamily="34" charset="77"/>
            </a:endParaRPr>
          </a:p>
          <a:p>
            <a:r>
              <a:rPr lang="da-DK" sz="1100" b="1" dirty="0">
                <a:latin typeface="Century Gothic" panose="020B0502020204020303" pitchFamily="34" charset="77"/>
              </a:rPr>
              <a:t>Hvad får man. </a:t>
            </a:r>
            <a:r>
              <a:rPr lang="da-DK" sz="1100" dirty="0">
                <a:latin typeface="Century Gothic" panose="020B0502020204020303" pitchFamily="34" charset="77"/>
              </a:rPr>
              <a:t>(Definerer value proposition: hvad køber medlemmet.)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Typiske emner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Strategisk fokus vs. Operationelt </a:t>
            </a:r>
            <a:r>
              <a:rPr lang="da-DK" sz="1100" dirty="0" err="1">
                <a:latin typeface="Century Gothic" panose="020B0502020204020303" pitchFamily="34" charset="77"/>
              </a:rPr>
              <a:t>focus</a:t>
            </a:r>
            <a:endParaRPr lang="da-DK" sz="1100" dirty="0">
              <a:latin typeface="Century Gothic" panose="020B0502020204020303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Mangfoldighedsbeskrivelse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Fortroligt rum</a:t>
            </a:r>
          </a:p>
          <a:p>
            <a:endParaRPr lang="da-DK" sz="1100" dirty="0">
              <a:latin typeface="Century Gothic" panose="020B0502020204020303" pitchFamily="34" charset="77"/>
            </a:endParaRPr>
          </a:p>
          <a:p>
            <a:r>
              <a:rPr lang="da-DK" sz="1100" b="1" dirty="0">
                <a:latin typeface="Century Gothic" panose="020B0502020204020303" pitchFamily="34" charset="77"/>
              </a:rPr>
              <a:t>Hvad kendetegner gruppen. </a:t>
            </a:r>
            <a:r>
              <a:rPr lang="da-DK" sz="1100" dirty="0">
                <a:latin typeface="Century Gothic" panose="020B0502020204020303" pitchFamily="34" charset="77"/>
              </a:rPr>
              <a:t>(Skaber differentiering, hvorfor vælge denne gruppe)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Høj tillid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Aktiv deltagelse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Diversitet i erfaring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Ingen konkurrenter</a:t>
            </a:r>
          </a:p>
          <a:p>
            <a:endParaRPr lang="da-DK" sz="1100" dirty="0">
              <a:latin typeface="Century Gothic" panose="020B0502020204020303" pitchFamily="34" charset="77"/>
            </a:endParaRPr>
          </a:p>
          <a:p>
            <a:r>
              <a:rPr lang="da-DK" sz="1100" b="1" dirty="0">
                <a:latin typeface="Century Gothic" panose="020B0502020204020303" pitchFamily="34" charset="77"/>
              </a:rPr>
              <a:t>Udviklingsfokus. </a:t>
            </a:r>
            <a:r>
              <a:rPr lang="da-DK" sz="1100" dirty="0">
                <a:latin typeface="Century Gothic" panose="020B0502020204020303" pitchFamily="34" charset="77"/>
              </a:rPr>
              <a:t>(Sætter retning, hvad arbejdes der konkret med)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Strategi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Ledelse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Vækst / skalering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100" dirty="0">
                <a:latin typeface="Century Gothic" panose="020B0502020204020303" pitchFamily="34" charset="77"/>
              </a:rPr>
              <a:t>Personlig udvikling som CEO</a:t>
            </a:r>
          </a:p>
        </p:txBody>
      </p:sp>
    </p:spTree>
    <p:extLst>
      <p:ext uri="{BB962C8B-B14F-4D97-AF65-F5344CB8AC3E}">
        <p14:creationId xmlns:p14="http://schemas.microsoft.com/office/powerpoint/2010/main" val="1367126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1D576-AA23-0D42-7CC0-72E57102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2C26F2-FCF5-043C-C466-A9BE7475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14" y="939801"/>
            <a:ext cx="6952836" cy="845038"/>
          </a:xfrm>
        </p:spPr>
        <p:txBody>
          <a:bodyPr>
            <a:normAutofit/>
          </a:bodyPr>
          <a:lstStyle/>
          <a:p>
            <a:r>
              <a:rPr lang="da-DK" dirty="0"/>
              <a:t>Medlemsprofil.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A201A01-9B54-2949-77C1-B4E0EDD132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93861" y="2205179"/>
            <a:ext cx="2859775" cy="4063736"/>
          </a:xfrm>
        </p:spPr>
        <p:txBody>
          <a:bodyPr>
            <a:normAutofit/>
          </a:bodyPr>
          <a:lstStyle/>
          <a:p>
            <a:r>
              <a:rPr lang="da-DK" sz="1200" b="1" dirty="0"/>
              <a:t>Medlemsprofil.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Titler / erfaring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Ledelsesspænd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Matcher / matcher ikke</a:t>
            </a:r>
          </a:p>
          <a:p>
            <a:r>
              <a:rPr lang="da-DK" sz="1200" b="1" dirty="0"/>
              <a:t>Formål.</a:t>
            </a:r>
          </a:p>
          <a:p>
            <a:r>
              <a:rPr lang="da-DK" sz="1200" dirty="0"/>
              <a:t>Medlemsprofilen sikrer, at de rigtige mennesker sidder i rummet,  så gruppen faktisk virker</a:t>
            </a:r>
          </a:p>
          <a:p>
            <a:endParaRPr lang="da-DK" b="1" dirty="0"/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B7366009-82E2-C4BF-7CD1-0C3587C8B630}"/>
              </a:ext>
            </a:extLst>
          </p:cNvPr>
          <p:cNvSpPr txBox="1">
            <a:spLocks/>
          </p:cNvSpPr>
          <p:nvPr/>
        </p:nvSpPr>
        <p:spPr>
          <a:xfrm>
            <a:off x="5058202" y="2255221"/>
            <a:ext cx="8632778" cy="40637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4CEB7D88-4D3A-60EE-03BE-E12B92715655}"/>
              </a:ext>
            </a:extLst>
          </p:cNvPr>
          <p:cNvSpPr txBox="1"/>
          <p:nvPr/>
        </p:nvSpPr>
        <p:spPr>
          <a:xfrm>
            <a:off x="5165156" y="1652267"/>
            <a:ext cx="743959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200" b="1" dirty="0">
                <a:latin typeface="Century Gothic" panose="020B0502020204020303" pitchFamily="34" charset="77"/>
              </a:rPr>
              <a:t>EKSEMPLER.</a:t>
            </a:r>
          </a:p>
          <a:p>
            <a:endParaRPr lang="da-DK" dirty="0"/>
          </a:p>
          <a:p>
            <a:r>
              <a:rPr lang="da-DK" sz="1200" b="1" dirty="0">
                <a:latin typeface="Century Gothic" panose="020B0502020204020303" pitchFamily="34" charset="77"/>
              </a:rPr>
              <a:t>Titler &amp; erfaring. </a:t>
            </a:r>
            <a:r>
              <a:rPr lang="da-DK" sz="1200" dirty="0">
                <a:latin typeface="Century Gothic" panose="020B0502020204020303" pitchFamily="34" charset="77"/>
              </a:rPr>
              <a:t>(</a:t>
            </a:r>
            <a:r>
              <a:rPr lang="da-DK" sz="1200" dirty="0"/>
              <a:t>Sikrer homogent niveau og bedre kvalitet i sparring.)</a:t>
            </a:r>
            <a:endParaRPr lang="da-DK" sz="1200" b="1" dirty="0">
              <a:latin typeface="Century Gothic" panose="020B0502020204020303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CEO / </a:t>
            </a:r>
            <a:r>
              <a:rPr lang="da-DK" sz="1200" dirty="0" err="1"/>
              <a:t>Managing</a:t>
            </a:r>
            <a:r>
              <a:rPr lang="da-DK" sz="1200" dirty="0"/>
              <a:t> </a:t>
            </a:r>
            <a:r>
              <a:rPr lang="da-DK" sz="1200" dirty="0" err="1"/>
              <a:t>Director</a:t>
            </a:r>
            <a:endParaRPr lang="da-DK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Ejerleder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1–10 års CEO-erfaring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Første gang i CEO-rollen</a:t>
            </a:r>
          </a:p>
          <a:p>
            <a:endParaRPr lang="da-DK" sz="1200" b="1" dirty="0">
              <a:latin typeface="Century Gothic" panose="020B0502020204020303" pitchFamily="34" charset="77"/>
            </a:endParaRPr>
          </a:p>
          <a:p>
            <a:r>
              <a:rPr lang="da-DK" sz="1200" b="1" dirty="0">
                <a:latin typeface="Century Gothic" panose="020B0502020204020303" pitchFamily="34" charset="77"/>
              </a:rPr>
              <a:t>Ledelsesspænd. </a:t>
            </a:r>
            <a:r>
              <a:rPr lang="da-DK" sz="1200" dirty="0"/>
              <a:t>(Sikrer sammenlignelig organisatorisk kompleksitet)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CEO med 5–8 direktører i ledergruppe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CEO med funktionelle ledere (Sales, Finance, Operations)</a:t>
            </a:r>
          </a:p>
          <a:p>
            <a:endParaRPr lang="da-DK" sz="1200" b="1" dirty="0">
              <a:latin typeface="Century Gothic" panose="020B0502020204020303" pitchFamily="34" charset="77"/>
            </a:endParaRPr>
          </a:p>
          <a:p>
            <a:r>
              <a:rPr lang="da-DK" sz="1200" b="1" dirty="0">
                <a:latin typeface="Century Gothic" panose="020B0502020204020303" pitchFamily="34" charset="77"/>
              </a:rPr>
              <a:t>Matcher/matcher ikke. </a:t>
            </a:r>
            <a:r>
              <a:rPr lang="da-DK" sz="1200" dirty="0">
                <a:latin typeface="Century Gothic" panose="020B0502020204020303" pitchFamily="34" charset="77"/>
              </a:rPr>
              <a:t>(Gør det operationelt, hvem skal ind / ikke ind)</a:t>
            </a:r>
          </a:p>
          <a:p>
            <a:endParaRPr lang="da-DK" sz="1200" dirty="0">
              <a:latin typeface="Century Gothic" panose="020B0502020204020303" pitchFamily="34" charset="77"/>
            </a:endParaRPr>
          </a:p>
          <a:p>
            <a:r>
              <a:rPr lang="da-DK" sz="1200" b="1" dirty="0">
                <a:latin typeface="Century Gothic" panose="020B0502020204020303" pitchFamily="34" charset="77"/>
              </a:rPr>
              <a:t>Matcher.</a:t>
            </a:r>
            <a:endParaRPr lang="da-DK" sz="1200" dirty="0">
              <a:latin typeface="Century Gothic" panose="020B0502020204020303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latin typeface="Century Gothic" panose="020B0502020204020303" pitchFamily="34" charset="77"/>
              </a:rPr>
              <a:t>Åben for sparring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latin typeface="Century Gothic" panose="020B0502020204020303" pitchFamily="34" charset="77"/>
              </a:rPr>
              <a:t>Villig til at dele udfordringer og blive udfordret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/>
              <a:t>Organisation hvor CEO arbejder gennem ledere  ikke direkte drift</a:t>
            </a:r>
          </a:p>
          <a:p>
            <a:endParaRPr lang="da-DK" sz="1200" dirty="0">
              <a:latin typeface="Century Gothic" panose="020B0502020204020303" pitchFamily="34" charset="77"/>
            </a:endParaRPr>
          </a:p>
          <a:p>
            <a:r>
              <a:rPr lang="da-DK" sz="1200" b="1" dirty="0">
                <a:latin typeface="Century Gothic" panose="020B0502020204020303" pitchFamily="34" charset="77"/>
              </a:rPr>
              <a:t>Matcher ikke.</a:t>
            </a:r>
            <a:endParaRPr lang="da-DK" sz="1200" dirty="0">
              <a:latin typeface="Century Gothic" panose="020B0502020204020303" pitchFamily="34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latin typeface="Century Gothic" panose="020B0502020204020303" pitchFamily="34" charset="77"/>
              </a:rPr>
              <a:t>Søger kun netværk / salg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latin typeface="Century Gothic" panose="020B0502020204020303" pitchFamily="34" charset="77"/>
              </a:rPr>
              <a:t>Deler ikke reelle 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 err="1">
                <a:latin typeface="Century Gothic" panose="020B0502020204020303" pitchFamily="34" charset="77"/>
              </a:rPr>
              <a:t>Founder</a:t>
            </a:r>
            <a:r>
              <a:rPr lang="da-DK" sz="1200" dirty="0">
                <a:latin typeface="Century Gothic" panose="020B0502020204020303" pitchFamily="34" charset="77"/>
              </a:rPr>
              <a:t> med primært operative rapporter (for operationelt fokus)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latin typeface="Century Gothic" panose="020B0502020204020303" pitchFamily="34" charset="77"/>
              </a:rPr>
              <a:t>CEO med &gt;15 direkte referencer (meget høj kompleksitet og anden rolle)</a:t>
            </a:r>
          </a:p>
        </p:txBody>
      </p:sp>
    </p:spTree>
    <p:extLst>
      <p:ext uri="{BB962C8B-B14F-4D97-AF65-F5344CB8AC3E}">
        <p14:creationId xmlns:p14="http://schemas.microsoft.com/office/powerpoint/2010/main" val="3693440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AE5B-78BA-9C0C-A005-F8B5FDBA0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0B53C-6948-EDF6-F2C4-CC883BF9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14" y="939801"/>
            <a:ext cx="6952836" cy="845038"/>
          </a:xfrm>
        </p:spPr>
        <p:txBody>
          <a:bodyPr>
            <a:normAutofit/>
          </a:bodyPr>
          <a:lstStyle/>
          <a:p>
            <a:r>
              <a:rPr lang="da-DK" dirty="0"/>
              <a:t>Virksomhedsprofil.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6D49204-5666-6615-69F0-BE9FDC61EE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93861" y="2205179"/>
            <a:ext cx="2859775" cy="4063736"/>
          </a:xfrm>
        </p:spPr>
        <p:txBody>
          <a:bodyPr>
            <a:noAutofit/>
          </a:bodyPr>
          <a:lstStyle/>
          <a:p>
            <a:r>
              <a:rPr lang="da-DK" sz="1200" b="1" dirty="0"/>
              <a:t>Virksomhedsprofil.</a:t>
            </a:r>
          </a:p>
          <a:p>
            <a:r>
              <a:rPr lang="da-DK" sz="1200" dirty="0"/>
              <a:t>Størrelse / type</a:t>
            </a:r>
          </a:p>
          <a:p>
            <a:r>
              <a:rPr lang="da-DK" sz="1200" dirty="0"/>
              <a:t>Branche / marked</a:t>
            </a:r>
          </a:p>
          <a:p>
            <a:r>
              <a:rPr lang="da-DK" sz="1200" dirty="0"/>
              <a:t>Matcher / matcher ikke</a:t>
            </a:r>
          </a:p>
          <a:p>
            <a:endParaRPr lang="da-DK" sz="1200" dirty="0"/>
          </a:p>
          <a:p>
            <a:r>
              <a:rPr lang="da-DK" sz="1200" b="1" dirty="0"/>
              <a:t>Formål. </a:t>
            </a:r>
          </a:p>
          <a:p>
            <a:r>
              <a:rPr lang="da-DK" sz="1200" dirty="0"/>
              <a:t>Sikrer at medlemmerne er forskellige nok til at give perspektiv, men ens nok til at sparringen er relevant.</a:t>
            </a:r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9671EF1C-9735-39BF-0B1D-08171F9790A0}"/>
              </a:ext>
            </a:extLst>
          </p:cNvPr>
          <p:cNvSpPr txBox="1">
            <a:spLocks/>
          </p:cNvSpPr>
          <p:nvPr/>
        </p:nvSpPr>
        <p:spPr>
          <a:xfrm>
            <a:off x="5576389" y="1949994"/>
            <a:ext cx="6425111" cy="490800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200" b="1" dirty="0"/>
              <a:t>EKSEMPLER.</a:t>
            </a:r>
          </a:p>
          <a:p>
            <a:r>
              <a:rPr lang="da-DK" sz="1200" b="1" dirty="0"/>
              <a:t>Størrelse / type. </a:t>
            </a:r>
            <a:r>
              <a:rPr lang="da-DK" sz="1200" dirty="0"/>
              <a:t>(Understøtter relevans, samme kompleksitet i dialogen)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50–250 ansatte (SMV), B2B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25-35 ansatte Service </a:t>
            </a:r>
            <a:r>
              <a:rPr lang="da-DK" sz="1200" dirty="0" err="1"/>
              <a:t>Scale</a:t>
            </a:r>
            <a:r>
              <a:rPr lang="da-DK" sz="1200" dirty="0"/>
              <a:t>-up,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&gt;500 ansatte (</a:t>
            </a:r>
            <a:r>
              <a:rPr lang="da-DK" sz="1200" dirty="0" err="1"/>
              <a:t>Corporate</a:t>
            </a:r>
            <a:r>
              <a:rPr lang="da-DK" sz="1200" dirty="0"/>
              <a:t>), B2C</a:t>
            </a:r>
          </a:p>
          <a:p>
            <a:pPr>
              <a:spcBef>
                <a:spcPts val="0"/>
              </a:spcBef>
            </a:pPr>
            <a:endParaRPr lang="da-DK" sz="1200" dirty="0"/>
          </a:p>
          <a:p>
            <a:r>
              <a:rPr lang="da-DK" sz="1200" b="1" dirty="0"/>
              <a:t>Branche / Marked. </a:t>
            </a:r>
            <a:r>
              <a:rPr lang="da-DK" sz="1200" dirty="0"/>
              <a:t>(Sikrer diversitet, men uden overlap)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a-DK" sz="1200" dirty="0"/>
              <a:t>Privat vs. offentlig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a-DK" sz="1200" dirty="0"/>
              <a:t>Tech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a-DK" sz="1200" dirty="0"/>
              <a:t>Finans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a-DK" sz="1200" dirty="0"/>
              <a:t>Healthcare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a-DK" sz="1200" dirty="0"/>
              <a:t>Marked: International vs. national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da-DK" sz="1200" dirty="0"/>
          </a:p>
          <a:p>
            <a:r>
              <a:rPr lang="da-DK" sz="1200" b="1" dirty="0"/>
              <a:t>Matcher / matcher ikke. </a:t>
            </a:r>
            <a:r>
              <a:rPr lang="da-DK" sz="1200" dirty="0"/>
              <a:t>(Sikrer gruppedynamik, undgår konflikter)</a:t>
            </a:r>
          </a:p>
          <a:p>
            <a:r>
              <a:rPr lang="da-DK" sz="1200" b="1" dirty="0"/>
              <a:t>Matcher.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Forskellige brancher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Ingen direkte konkurrence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Ingen kunde/leverandør-relation</a:t>
            </a:r>
          </a:p>
          <a:p>
            <a:r>
              <a:rPr lang="da-DK" sz="1200" b="1" dirty="0"/>
              <a:t>Matcher ikke.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Konkurrenter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Kunde/leverandør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For ens profiler</a:t>
            </a:r>
          </a:p>
        </p:txBody>
      </p:sp>
    </p:spTree>
    <p:extLst>
      <p:ext uri="{BB962C8B-B14F-4D97-AF65-F5344CB8AC3E}">
        <p14:creationId xmlns:p14="http://schemas.microsoft.com/office/powerpoint/2010/main" val="3885876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F098-7AC1-B2A6-2FC1-8DACD40C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F6BC7A-ABAB-2DB9-CAFA-8FD8BE2B1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14" y="939801"/>
            <a:ext cx="6952836" cy="845038"/>
          </a:xfrm>
        </p:spPr>
        <p:txBody>
          <a:bodyPr>
            <a:normAutofit/>
          </a:bodyPr>
          <a:lstStyle/>
          <a:p>
            <a:r>
              <a:rPr lang="da-DK" dirty="0"/>
              <a:t>Chairprofil.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E2314A6-977C-760B-32F1-29422C9D063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93861" y="2205179"/>
            <a:ext cx="2859775" cy="4063736"/>
          </a:xfrm>
        </p:spPr>
        <p:txBody>
          <a:bodyPr>
            <a:noAutofit/>
          </a:bodyPr>
          <a:lstStyle/>
          <a:p>
            <a:r>
              <a:rPr lang="da-DK" sz="1200" b="1" dirty="0"/>
              <a:t>Chairprofil.</a:t>
            </a:r>
          </a:p>
          <a:p>
            <a:r>
              <a:rPr lang="da-DK" sz="1200" dirty="0"/>
              <a:t>Kvalitet i facilitering</a:t>
            </a:r>
          </a:p>
          <a:p>
            <a:r>
              <a:rPr lang="da-DK" sz="1200" dirty="0"/>
              <a:t>Erfaring og tyngde</a:t>
            </a:r>
          </a:p>
          <a:p>
            <a:r>
              <a:rPr lang="da-DK" sz="1200" dirty="0"/>
              <a:t>Tryghed og tillid i rummet</a:t>
            </a:r>
          </a:p>
          <a:p>
            <a:endParaRPr lang="da-DK" sz="1200" dirty="0"/>
          </a:p>
          <a:p>
            <a:r>
              <a:rPr lang="da-DK" sz="1200" b="1" dirty="0"/>
              <a:t>Formål. </a:t>
            </a:r>
          </a:p>
          <a:p>
            <a:r>
              <a:rPr lang="da-DK" sz="1200" dirty="0"/>
              <a:t>At sikre, at gruppen ledes af en erfaren og relevant sparringspartner, som kan skabe struktur, udfordre medlemmerne og løfte kvaliteten i arbejdet.</a:t>
            </a:r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C05C4E93-EDBB-A6EB-3C25-87893EF97F89}"/>
              </a:ext>
            </a:extLst>
          </p:cNvPr>
          <p:cNvSpPr txBox="1">
            <a:spLocks/>
          </p:cNvSpPr>
          <p:nvPr/>
        </p:nvSpPr>
        <p:spPr>
          <a:xfrm>
            <a:off x="5576389" y="1949994"/>
            <a:ext cx="6425111" cy="490800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entury Gothic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Century Gothic" panose="020B0502020204020303" pitchFamily="34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Century Gothic" panose="020B0502020204020303" pitchFamily="34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entury Gothic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200" b="1" dirty="0"/>
              <a:t>EKSEMPLER.</a:t>
            </a:r>
          </a:p>
          <a:p>
            <a:r>
              <a:rPr lang="da-DK" sz="1200" b="1" dirty="0"/>
              <a:t>Kvalitet i facilitering. </a:t>
            </a:r>
            <a:r>
              <a:rPr lang="da-DK" sz="1200" dirty="0"/>
              <a:t>(Sikre struktur, fokus og høj kvalitet i sparringen)</a:t>
            </a:r>
          </a:p>
          <a:p>
            <a:r>
              <a:rPr lang="da-DK" sz="1200" b="1" dirty="0"/>
              <a:t>Erfaring og tyngde. </a:t>
            </a:r>
            <a:r>
              <a:rPr lang="da-DK" sz="1200" dirty="0"/>
              <a:t>(Sikre relevant og kvalificeret sparring på højt niveau)</a:t>
            </a:r>
          </a:p>
          <a:p>
            <a:r>
              <a:rPr lang="da-DK" sz="1200" b="1" dirty="0"/>
              <a:t>Tryghed og tillid i rummet. </a:t>
            </a:r>
            <a:r>
              <a:rPr lang="da-DK" sz="1200" dirty="0"/>
              <a:t>(Skabe et fortroligt rum, hvor medlemmer deler åbent)</a:t>
            </a:r>
          </a:p>
          <a:p>
            <a:endParaRPr lang="da-DK" sz="1200" dirty="0"/>
          </a:p>
          <a:p>
            <a:r>
              <a:rPr lang="da-DK" sz="1200" b="1" dirty="0"/>
              <a:t>Matcher / matcher ikke. </a:t>
            </a:r>
            <a:r>
              <a:rPr lang="da-DK" sz="1200" dirty="0"/>
              <a:t>(Sikrer kvalitet i facilitering)</a:t>
            </a:r>
          </a:p>
          <a:p>
            <a:r>
              <a:rPr lang="da-DK" sz="1200" b="1" dirty="0"/>
              <a:t>Matcher.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Skaber struktur og retning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Stiller skarpe spørgsmål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Får alle i spil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Forstår strategi + drift</a:t>
            </a:r>
          </a:p>
          <a:p>
            <a:pPr>
              <a:spcBef>
                <a:spcPts val="0"/>
              </a:spcBef>
            </a:pPr>
            <a:endParaRPr lang="da-DK" sz="1200" b="1" dirty="0"/>
          </a:p>
          <a:p>
            <a:pPr>
              <a:spcBef>
                <a:spcPts val="0"/>
              </a:spcBef>
            </a:pPr>
            <a:r>
              <a:rPr lang="da-DK" sz="1200" b="1" dirty="0"/>
              <a:t>Matcher ikke.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Kun teoretisk erfaring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Undgår at udfordre</a:t>
            </a:r>
          </a:p>
          <a:p>
            <a:pPr>
              <a:spcBef>
                <a:spcPts val="0"/>
              </a:spcBef>
            </a:pPr>
            <a:r>
              <a:rPr lang="da-DK" sz="1200" dirty="0"/>
              <a:t>Tillader passiv deltagelse</a:t>
            </a:r>
          </a:p>
          <a:p>
            <a:pPr>
              <a:spcBef>
                <a:spcPts val="0"/>
              </a:spcBef>
            </a:pPr>
            <a:endParaRPr lang="da-DK" sz="1200" dirty="0"/>
          </a:p>
          <a:p>
            <a:pPr>
              <a:spcBef>
                <a:spcPts val="0"/>
              </a:spcBef>
            </a:pPr>
            <a:r>
              <a:rPr lang="da-DK" sz="1200" dirty="0"/>
              <a:t>Alle opdaterede Chair-profiler tilgængelige på </a:t>
            </a:r>
            <a:r>
              <a:rPr lang="da-DK" sz="1200" dirty="0">
                <a:hlinkClick r:id="rId2"/>
              </a:rPr>
              <a:t>hjemmeside</a:t>
            </a:r>
            <a:r>
              <a:rPr lang="da-DK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98200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5E095-4752-1001-25A2-EB9B830F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14" y="939801"/>
            <a:ext cx="5384386" cy="845038"/>
          </a:xfrm>
        </p:spPr>
        <p:txBody>
          <a:bodyPr>
            <a:normAutofit fontScale="90000"/>
          </a:bodyPr>
          <a:lstStyle/>
          <a:p>
            <a:r>
              <a:rPr lang="da-DK" dirty="0"/>
              <a:t>CEO </a:t>
            </a:r>
            <a:r>
              <a:rPr lang="da-DK" dirty="0" err="1"/>
              <a:t>gruppe-DNA’er</a:t>
            </a:r>
            <a:r>
              <a:rPr lang="da-DK" dirty="0"/>
              <a:t>.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86F2A60E-14FD-F889-EDF7-F15DEED9CDF5}"/>
              </a:ext>
            </a:extLst>
          </p:cNvPr>
          <p:cNvGraphicFramePr>
            <a:graphicFrameLocks noGrp="1"/>
          </p:cNvGraphicFramePr>
          <p:nvPr/>
        </p:nvGraphicFramePr>
        <p:xfrm>
          <a:off x="1350273" y="1784839"/>
          <a:ext cx="8831952" cy="4562475"/>
        </p:xfrm>
        <a:graphic>
          <a:graphicData uri="http://schemas.openxmlformats.org/drawingml/2006/table">
            <a:tbl>
              <a:tblPr/>
              <a:tblGrid>
                <a:gridCol w="2943984">
                  <a:extLst>
                    <a:ext uri="{9D8B030D-6E8A-4147-A177-3AD203B41FA5}">
                      <a16:colId xmlns:a16="http://schemas.microsoft.com/office/drawing/2014/main" val="3458872361"/>
                    </a:ext>
                  </a:extLst>
                </a:gridCol>
                <a:gridCol w="2943984">
                  <a:extLst>
                    <a:ext uri="{9D8B030D-6E8A-4147-A177-3AD203B41FA5}">
                      <a16:colId xmlns:a16="http://schemas.microsoft.com/office/drawing/2014/main" val="4115325548"/>
                    </a:ext>
                  </a:extLst>
                </a:gridCol>
                <a:gridCol w="2943984">
                  <a:extLst>
                    <a:ext uri="{9D8B030D-6E8A-4147-A177-3AD203B41FA5}">
                      <a16:colId xmlns:a16="http://schemas.microsoft.com/office/drawing/2014/main" val="2765377741"/>
                    </a:ext>
                  </a:extLst>
                </a:gridCol>
              </a:tblGrid>
              <a:tr h="4788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a-DK" sz="1100"/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/>
                        <a:t>Høj kommerciel anvendelighed</a:t>
                      </a:r>
                      <a:endParaRPr lang="da-DK" sz="1100"/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/>
                        <a:t>Lavere kommerciel anvendelighed</a:t>
                      </a:r>
                      <a:endParaRPr lang="da-DK" sz="1100"/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891440"/>
                  </a:ext>
                </a:extLst>
              </a:tr>
              <a:tr h="21295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dirty="0"/>
                        <a:t>Høj målgruppeklarhed</a:t>
                      </a:r>
                      <a:endParaRPr lang="da-DK" sz="1100" dirty="0"/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da-DK" sz="1100" dirty="0"/>
                      </a:br>
                      <a:r>
                        <a:rPr lang="da-DK" sz="1100" dirty="0"/>
                        <a:t>• Adm. direktører – Jylland 1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Adm. direktører – Jylland 3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Adm. direktører – Jylland 4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Landedirektører Vest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Landedirektører Øst 1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Landedirektører Øst 2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Adm. direktører – Jylland 2</a:t>
                      </a:r>
                      <a:b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da-DK" sz="1100" dirty="0"/>
                        <a:t>Adm. direktører – Syd 1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Adm. direktører – </a:t>
                      </a:r>
                      <a:r>
                        <a:rPr lang="da-DK" sz="1100" dirty="0" err="1"/>
                        <a:t>Trekantsområdet</a:t>
                      </a:r>
                      <a:r>
                        <a:rPr lang="da-DK" sz="1100" dirty="0"/>
                        <a:t>/Fyn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Adm. Direktører Østjylland 1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Board Inspiration Vest 1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Ejerledere Syddanmark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Ejerledere Vest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Topledelse og bestyrelse (Sjælland 2)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602196"/>
                  </a:ext>
                </a:extLst>
              </a:tr>
              <a:tr h="1954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/>
                        <a:t>Lavere målgruppeklarhed</a:t>
                      </a:r>
                      <a:endParaRPr lang="da-DK" sz="1100"/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da-DK" sz="1100" dirty="0"/>
                      </a:br>
                      <a:br>
                        <a:rPr lang="da-DK" sz="1100" dirty="0"/>
                      </a:br>
                      <a:r>
                        <a:rPr lang="da-DK" sz="1100" dirty="0"/>
                        <a:t>• Adm. direktører – Sjælland 3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Adm. direktører – Sjælland 5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da-DK" sz="1100" dirty="0"/>
                      </a:br>
                      <a:br>
                        <a:rPr lang="da-DK" sz="1100" dirty="0"/>
                      </a:br>
                      <a:r>
                        <a:rPr lang="da-DK" sz="1100" dirty="0"/>
                        <a:t>• Adm. direktører – Fyn 1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Ejerledere Midtjylland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Ejerledere Nordjylland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Ejerledere Syd-Midtjylland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Ledelse &amp; Udvikling – Vest 12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Nordjyske Adm. direktører</a:t>
                      </a:r>
                      <a:br>
                        <a:rPr lang="da-DK" sz="1100" dirty="0"/>
                      </a:br>
                      <a:r>
                        <a:rPr lang="da-DK" sz="1100" dirty="0"/>
                        <a:t>• Topledelse (Sjælland 1)</a:t>
                      </a:r>
                    </a:p>
                  </a:txBody>
                  <a:tcPr marL="58018" marR="58018" marT="29009" marB="290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37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425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5488682-55BA-AEBC-43B2-8531FE85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15" y="939801"/>
            <a:ext cx="6037947" cy="965200"/>
          </a:xfrm>
        </p:spPr>
        <p:txBody>
          <a:bodyPr/>
          <a:lstStyle/>
          <a:p>
            <a:r>
              <a:rPr lang="da-DK" dirty="0"/>
              <a:t>Stærke </a:t>
            </a:r>
            <a:r>
              <a:rPr lang="da-DK" dirty="0" err="1"/>
              <a:t>DNA’er</a:t>
            </a:r>
            <a:r>
              <a:rPr lang="da-DK" dirty="0"/>
              <a:t>.</a:t>
            </a:r>
          </a:p>
        </p:txBody>
      </p:sp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2E410892-4E71-1C1C-41FB-D5D24F34E2A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35242"/>
          <a:ext cx="11172826" cy="3336733"/>
        </p:xfrm>
        <a:graphic>
          <a:graphicData uri="http://schemas.openxmlformats.org/drawingml/2006/table">
            <a:tbl>
              <a:tblPr/>
              <a:tblGrid>
                <a:gridCol w="2305990">
                  <a:extLst>
                    <a:ext uri="{9D8B030D-6E8A-4147-A177-3AD203B41FA5}">
                      <a16:colId xmlns:a16="http://schemas.microsoft.com/office/drawing/2014/main" val="2550013679"/>
                    </a:ext>
                  </a:extLst>
                </a:gridCol>
                <a:gridCol w="1591745">
                  <a:extLst>
                    <a:ext uri="{9D8B030D-6E8A-4147-A177-3AD203B41FA5}">
                      <a16:colId xmlns:a16="http://schemas.microsoft.com/office/drawing/2014/main" val="823408854"/>
                    </a:ext>
                  </a:extLst>
                </a:gridCol>
                <a:gridCol w="1688678">
                  <a:extLst>
                    <a:ext uri="{9D8B030D-6E8A-4147-A177-3AD203B41FA5}">
                      <a16:colId xmlns:a16="http://schemas.microsoft.com/office/drawing/2014/main" val="2254009286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3401511235"/>
                    </a:ext>
                  </a:extLst>
                </a:gridCol>
                <a:gridCol w="2565382">
                  <a:extLst>
                    <a:ext uri="{9D8B030D-6E8A-4147-A177-3AD203B41FA5}">
                      <a16:colId xmlns:a16="http://schemas.microsoft.com/office/drawing/2014/main" val="1486690094"/>
                    </a:ext>
                  </a:extLst>
                </a:gridCol>
                <a:gridCol w="2387619">
                  <a:extLst>
                    <a:ext uri="{9D8B030D-6E8A-4147-A177-3AD203B41FA5}">
                      <a16:colId xmlns:a16="http://schemas.microsoft.com/office/drawing/2014/main" val="817948394"/>
                    </a:ext>
                  </a:extLst>
                </a:gridCol>
              </a:tblGrid>
              <a:tr h="226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 dirty="0">
                          <a:solidFill>
                            <a:schemeClr val="tx1"/>
                          </a:solidFill>
                        </a:rPr>
                        <a:t>Gruppe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>
                          <a:solidFill>
                            <a:schemeClr val="tx1"/>
                          </a:solidFill>
                        </a:rPr>
                        <a:t>Chair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>
                          <a:solidFill>
                            <a:schemeClr val="tx1"/>
                          </a:solidFill>
                        </a:rPr>
                        <a:t>Sales Responsible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200" b="1" dirty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>
                          <a:solidFill>
                            <a:schemeClr val="tx1"/>
                          </a:solidFill>
                        </a:rPr>
                        <a:t>Kort vurdering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 dirty="0">
                          <a:solidFill>
                            <a:schemeClr val="tx1"/>
                          </a:solidFill>
                        </a:rPr>
                        <a:t>Even </a:t>
                      </a:r>
                      <a:r>
                        <a:rPr lang="da-DK" sz="1200" b="1" dirty="0" err="1">
                          <a:solidFill>
                            <a:schemeClr val="tx1"/>
                          </a:solidFill>
                        </a:rPr>
                        <a:t>better</a:t>
                      </a:r>
                      <a:r>
                        <a:rPr lang="da-DK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a-DK" sz="1200" b="1" dirty="0" err="1">
                          <a:solidFill>
                            <a:schemeClr val="tx1"/>
                          </a:solidFill>
                        </a:rPr>
                        <a:t>if</a:t>
                      </a:r>
                      <a:endParaRPr lang="da-DK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4337"/>
                  </a:ext>
                </a:extLst>
              </a:tr>
              <a:tr h="734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Adm. direktører – Jylland 1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Carsten Wædeled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Simon Arun Vrabel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Klar målgruppe, god tyngde, tydelig selektion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Tilføjer eksplicit udviklingsretning: hvilke profiler mangler gruppen fremadrettet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443899"/>
                  </a:ext>
                </a:extLst>
              </a:tr>
              <a:tr h="565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Adm. direktører – Jylland 3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Carsten Wædeled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Simon Arun Vrabel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Meget skarp position, international logik, høj selektion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Gør value proposition endnu tydeligere i salgsform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784924"/>
                  </a:ext>
                </a:extLst>
              </a:tr>
              <a:tr h="39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Adm. direktører – Jylland 4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Carsten Wædeled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Simon Arun Vrabel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Klar differentiering og tydelig profil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Strammer “matcher / matcher ikke” yderligere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165102"/>
                  </a:ext>
                </a:extLst>
              </a:tr>
              <a:tr h="565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Landedirektører Vest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Carsten Wædeled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Simon Arun Vrabel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Meget tydelig målgruppe og stærk selektion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Tilfører lidt tydeligere differentiering ift. Øst-grupperne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999131"/>
                  </a:ext>
                </a:extLst>
              </a:tr>
              <a:tr h="39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Landedirektører Øst 1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Peter Jahn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Lars Jensen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Tydelig profil og god konsistens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Gør krav til mandat og kompleksitet endnu skarpere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675910"/>
                  </a:ext>
                </a:extLst>
              </a:tr>
              <a:tr h="39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Landedirektører Øst 2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Peter Jahn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Lars Jensen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>
                          <a:solidFill>
                            <a:schemeClr val="tx1"/>
                          </a:solidFill>
                        </a:rPr>
                        <a:t>Klar målgruppe og god fit-logik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Differentierer tydeligere fra Øst 1</a:t>
                      </a:r>
                    </a:p>
                  </a:txBody>
                  <a:tcPr marL="41050" marR="41050" marT="20525" marB="20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11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33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9662BD0-3B34-C89E-21A8-0440FFFD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15" y="939801"/>
            <a:ext cx="6037947" cy="819150"/>
          </a:xfrm>
        </p:spPr>
        <p:txBody>
          <a:bodyPr/>
          <a:lstStyle/>
          <a:p>
            <a:r>
              <a:rPr lang="da-DK" dirty="0"/>
              <a:t>Middel </a:t>
            </a:r>
            <a:r>
              <a:rPr lang="da-DK" dirty="0" err="1"/>
              <a:t>DNA’er</a:t>
            </a:r>
            <a:r>
              <a:rPr lang="da-DK" dirty="0"/>
              <a:t>.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F01DDDEB-780D-7E4B-5AEB-62ACBB9AE4FF}"/>
              </a:ext>
            </a:extLst>
          </p:cNvPr>
          <p:cNvGraphicFramePr>
            <a:graphicFrameLocks noGrp="1"/>
          </p:cNvGraphicFramePr>
          <p:nvPr/>
        </p:nvGraphicFramePr>
        <p:xfrm>
          <a:off x="321090" y="1828799"/>
          <a:ext cx="11242260" cy="4137276"/>
        </p:xfrm>
        <a:graphic>
          <a:graphicData uri="http://schemas.openxmlformats.org/drawingml/2006/table">
            <a:tbl>
              <a:tblPr/>
              <a:tblGrid>
                <a:gridCol w="2104063">
                  <a:extLst>
                    <a:ext uri="{9D8B030D-6E8A-4147-A177-3AD203B41FA5}">
                      <a16:colId xmlns:a16="http://schemas.microsoft.com/office/drawing/2014/main" val="3928949274"/>
                    </a:ext>
                  </a:extLst>
                </a:gridCol>
                <a:gridCol w="1645272">
                  <a:extLst>
                    <a:ext uri="{9D8B030D-6E8A-4147-A177-3AD203B41FA5}">
                      <a16:colId xmlns:a16="http://schemas.microsoft.com/office/drawing/2014/main" val="2216718111"/>
                    </a:ext>
                  </a:extLst>
                </a:gridCol>
                <a:gridCol w="1526337">
                  <a:extLst>
                    <a:ext uri="{9D8B030D-6E8A-4147-A177-3AD203B41FA5}">
                      <a16:colId xmlns:a16="http://schemas.microsoft.com/office/drawing/2014/main" val="3238721726"/>
                    </a:ext>
                  </a:extLst>
                </a:gridCol>
                <a:gridCol w="644233">
                  <a:extLst>
                    <a:ext uri="{9D8B030D-6E8A-4147-A177-3AD203B41FA5}">
                      <a16:colId xmlns:a16="http://schemas.microsoft.com/office/drawing/2014/main" val="2011935214"/>
                    </a:ext>
                  </a:extLst>
                </a:gridCol>
                <a:gridCol w="2408440">
                  <a:extLst>
                    <a:ext uri="{9D8B030D-6E8A-4147-A177-3AD203B41FA5}">
                      <a16:colId xmlns:a16="http://schemas.microsoft.com/office/drawing/2014/main" val="1890031784"/>
                    </a:ext>
                  </a:extLst>
                </a:gridCol>
                <a:gridCol w="2913915">
                  <a:extLst>
                    <a:ext uri="{9D8B030D-6E8A-4147-A177-3AD203B41FA5}">
                      <a16:colId xmlns:a16="http://schemas.microsoft.com/office/drawing/2014/main" val="1585580364"/>
                    </a:ext>
                  </a:extLst>
                </a:gridCol>
              </a:tblGrid>
              <a:tr h="16727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Gruppe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Chair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</a:t>
                      </a:r>
                      <a:r>
                        <a:rPr lang="da-DK" sz="11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Responsible</a:t>
                      </a:r>
                      <a:endParaRPr lang="da-DK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Kort vurdering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 </a:t>
                      </a:r>
                      <a:r>
                        <a:rPr lang="da-DK" sz="11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better</a:t>
                      </a: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1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</a:t>
                      </a:r>
                      <a:endParaRPr lang="da-DK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549684"/>
                  </a:ext>
                </a:extLst>
              </a:tr>
              <a:tr h="3123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Adm. direktører – Jylland 2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Simon Arun Vrabel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God struktur, men lidt bred målgruppe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Skærper niveau og reducerer spændet i målgruppen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48730"/>
                  </a:ext>
                </a:extLst>
              </a:tr>
              <a:tr h="3123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Adm. direktører – Sjælland 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Peter Jahn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OK struktur, men ikke tydelig nok profil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Definerer tydeligere position ift. andre Sjælland-grupper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941024"/>
                  </a:ext>
                </a:extLst>
              </a:tr>
              <a:tr h="3123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Adm. direktører – Sjælland 5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Claus Wittenborg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God dynamikbeskrivelse, men selektionen er for blød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Stramme hvem der ikke passer ind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061197"/>
                  </a:ext>
                </a:extLst>
              </a:tr>
              <a:tr h="3123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Adm. direktører – Syd 1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Simon Arun Vrabel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God base, men differentieringen er ikke helt skarp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Gør geografi og niveau mere tydelig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34608"/>
                  </a:ext>
                </a:extLst>
              </a:tr>
              <a:tr h="3123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Adm. direktører – Trekantsområdet/Fyn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Simon Arun Vrabel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Solid og brugbar, men relativt generisk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Tydeliggør hvad der gør gruppen unik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887527"/>
                  </a:ext>
                </a:extLst>
              </a:tr>
              <a:tr h="3123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Adm. Direktører Østjylland 1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Simon Arun Vrabel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Mere datatung end styrende, men brugbar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Simplificerer til skarpere selektionslogik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373026"/>
                  </a:ext>
                </a:extLst>
              </a:tr>
              <a:tr h="45750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Board Inspiration Vest 1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Simon Arun Vrabel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Klar niche, men adgangskriterierne er stadig lidt brede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Strammer krav til bestyrelseserfaring og fit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656585"/>
                  </a:ext>
                </a:extLst>
              </a:tr>
              <a:tr h="45750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Ejerledere Syddanmark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Har tyngde og tema-relevans, men er for langt og bredt formuleret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Korter og fokuserer DNA’et. Mindre tekst, mere selektion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490109"/>
                  </a:ext>
                </a:extLst>
              </a:tr>
              <a:tr h="3123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Ejerledere Vest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Carsten Wædeled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Klar branchevinkel, men ellers relativt bred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Strammer virksomhedstype og ideel medlemsprofil yderligere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394006"/>
                  </a:ext>
                </a:extLst>
              </a:tr>
              <a:tr h="3123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Topledelse og bestyrelse (Sjælland 2)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a-DK" sz="1100" kern="100" dirty="0">
                          <a:solidFill>
                            <a:schemeClr val="tx1"/>
                          </a:solidFill>
                          <a:effectLst/>
                        </a:rPr>
                        <a:t>Lars Folkmann</a:t>
                      </a:r>
                      <a:endParaRPr lang="da-DK" sz="11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Tydeligt niveau, men stadig lidt </a:t>
                      </a:r>
                      <a:r>
                        <a:rPr lang="da-DK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fluffy</a:t>
                      </a: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 selektionen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Skærper hvad “matcher ikke” konkret betyder</a:t>
                      </a:r>
                    </a:p>
                  </a:txBody>
                  <a:tcPr marL="25596" marR="25596" marT="12798" marB="127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851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033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E250C4A-DD1B-8CA7-FBF8-6E615A24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Svage </a:t>
            </a:r>
            <a:r>
              <a:rPr lang="da-DK" dirty="0" err="1"/>
              <a:t>DNA’er</a:t>
            </a:r>
            <a:r>
              <a:rPr lang="da-DK" dirty="0"/>
              <a:t>.</a:t>
            </a:r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6098FD8A-EF2D-A9F2-859D-B4DBFCC2C768}"/>
              </a:ext>
            </a:extLst>
          </p:cNvPr>
          <p:cNvGraphicFramePr>
            <a:graphicFrameLocks noGrp="1"/>
          </p:cNvGraphicFramePr>
          <p:nvPr/>
        </p:nvGraphicFramePr>
        <p:xfrm>
          <a:off x="864015" y="2254896"/>
          <a:ext cx="10623136" cy="3088535"/>
        </p:xfrm>
        <a:graphic>
          <a:graphicData uri="http://schemas.openxmlformats.org/drawingml/2006/table">
            <a:tbl>
              <a:tblPr/>
              <a:tblGrid>
                <a:gridCol w="1770523">
                  <a:extLst>
                    <a:ext uri="{9D8B030D-6E8A-4147-A177-3AD203B41FA5}">
                      <a16:colId xmlns:a16="http://schemas.microsoft.com/office/drawing/2014/main" val="809020797"/>
                    </a:ext>
                  </a:extLst>
                </a:gridCol>
                <a:gridCol w="1324413">
                  <a:extLst>
                    <a:ext uri="{9D8B030D-6E8A-4147-A177-3AD203B41FA5}">
                      <a16:colId xmlns:a16="http://schemas.microsoft.com/office/drawing/2014/main" val="888832138"/>
                    </a:ext>
                  </a:extLst>
                </a:gridCol>
                <a:gridCol w="1422674">
                  <a:extLst>
                    <a:ext uri="{9D8B030D-6E8A-4147-A177-3AD203B41FA5}">
                      <a16:colId xmlns:a16="http://schemas.microsoft.com/office/drawing/2014/main" val="276442163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3150040257"/>
                    </a:ext>
                  </a:extLst>
                </a:gridCol>
                <a:gridCol w="2581275">
                  <a:extLst>
                    <a:ext uri="{9D8B030D-6E8A-4147-A177-3AD203B41FA5}">
                      <a16:colId xmlns:a16="http://schemas.microsoft.com/office/drawing/2014/main" val="3205984017"/>
                    </a:ext>
                  </a:extLst>
                </a:gridCol>
                <a:gridCol w="2847976">
                  <a:extLst>
                    <a:ext uri="{9D8B030D-6E8A-4147-A177-3AD203B41FA5}">
                      <a16:colId xmlns:a16="http://schemas.microsoft.com/office/drawing/2014/main" val="129158057"/>
                    </a:ext>
                  </a:extLst>
                </a:gridCol>
              </a:tblGrid>
              <a:tr h="157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Gruppe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Chair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Responsible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Kort vurdering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 </a:t>
                      </a:r>
                      <a:r>
                        <a:rPr lang="da-DK" sz="11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better</a:t>
                      </a:r>
                      <a:r>
                        <a:rPr lang="da-DK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11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</a:t>
                      </a:r>
                      <a:endParaRPr lang="da-DK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283506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Adm. direktører – Fyn 1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Kenny R. M. Sørensen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Meget </a:t>
                      </a:r>
                      <a:r>
                        <a:rPr lang="da-DK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relationsdrevet</a:t>
                      </a: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og sympatisk, men svag selektion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Definerer klart hvem der ikke skal ind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505502"/>
                  </a:ext>
                </a:extLst>
              </a:tr>
              <a:tr h="496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Ejerledere Midtjylland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Relevant segment, men for generisk og for lidt differentieret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Gør målgruppen langt skarpere: hvem er gruppen præcist for?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11464"/>
                  </a:ext>
                </a:extLst>
              </a:tr>
              <a:tr h="293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Ejerledere Nordjylland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Beskrivende DNA med lav selektionskraft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Tilføjer tydelige match/mismatch-kriterier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939933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Ejerledere Syd-Midtjylland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Meget tidligt / næsten ingen reel DNA endnu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Byg fra scratch med klar målgruppe og tydelig value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240818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Ledelse &amp; Udvikling – Vest 12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Kenny R. M. Sørensen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Arthur Alaverdyan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Social og kulturpræget beskrivelse – ikke et stærkt DNA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Definerer niveau, målgruppe og formål langt tydeligere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996757"/>
                  </a:ext>
                </a:extLst>
              </a:tr>
              <a:tr h="360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Nordjyske Adm. direktører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Ellen Vejle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Simon Arun Vrabel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Meget generisk DNA og lav målgruppeklarhed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Definerer konkret hvad “god sammensætning” betyder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482369"/>
                  </a:ext>
                </a:extLst>
              </a:tr>
              <a:tr h="360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Topledelse (Sjælland 1)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Lars Folkmann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Lars Jensen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Historisk stærk gruppe, men DNA’et er uklart fremadrettet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Re-definerer</a:t>
                      </a:r>
                      <a:r>
                        <a:rPr lang="da-DK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målgruppe og udviklingsretning tydeligt</a:t>
                      </a:r>
                    </a:p>
                  </a:txBody>
                  <a:tcPr marL="33216" marR="33216" marT="16608" marB="166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58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296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5B8BC-4518-E8D3-064E-B69AB2DCB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14" y="939801"/>
            <a:ext cx="7550643" cy="845038"/>
          </a:xfrm>
        </p:spPr>
        <p:txBody>
          <a:bodyPr>
            <a:normAutofit/>
          </a:bodyPr>
          <a:lstStyle/>
          <a:p>
            <a:r>
              <a:rPr lang="da-DK" dirty="0"/>
              <a:t>NA &amp; Chair Feedback på V1.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125C2C7-DD51-4B9A-D64C-D5C1DEE9DA0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93860" y="2205179"/>
            <a:ext cx="8793139" cy="4063736"/>
          </a:xfrm>
        </p:spPr>
        <p:txBody>
          <a:bodyPr/>
          <a:lstStyle/>
          <a:p>
            <a:r>
              <a:rPr lang="da-DK" dirty="0"/>
              <a:t>Der er detaljer som går tabt, som modellen vurderer hverken at skabe høj kommerciel anvendelighed eller klar målgruppe.</a:t>
            </a:r>
          </a:p>
          <a:p>
            <a:endParaRPr lang="da-DK" dirty="0"/>
          </a:p>
          <a:p>
            <a:r>
              <a:rPr lang="da-DK" dirty="0"/>
              <a:t>EKS: </a:t>
            </a:r>
          </a:p>
          <a:p>
            <a:r>
              <a:rPr lang="da-DK" dirty="0">
                <a:hlinkClick r:id="rId2"/>
              </a:rPr>
              <a:t>Adm. direktører – Jylland 1_Score 4 til 5.docx</a:t>
            </a:r>
            <a:endParaRPr lang="da-DK" dirty="0"/>
          </a:p>
          <a:p>
            <a:r>
              <a:rPr lang="da-DK" dirty="0">
                <a:hlinkClick r:id="rId3"/>
              </a:rPr>
              <a:t>Ledelse &amp; Udvikling – Vest 12_Score 1 til 5.docx</a:t>
            </a:r>
            <a:endParaRPr lang="da-DK" dirty="0"/>
          </a:p>
          <a:p>
            <a:r>
              <a:rPr lang="da-DK" dirty="0">
                <a:hlinkClick r:id="rId4"/>
              </a:rPr>
              <a:t>Adm. direktører – Sjælland 3_Score 3 til 5.docx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32422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E6A1-32DB-C81F-29AE-5F833C74F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42A8916-B6AB-9771-F103-245F013DE3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1977922 w 7296150"/>
              <a:gd name="csY0" fmla="*/ 0 h 6858000"/>
              <a:gd name="csX1" fmla="*/ 7058891 w 7296150"/>
              <a:gd name="csY1" fmla="*/ 0 h 6858000"/>
              <a:gd name="csX2" fmla="*/ 7221841 w 7296150"/>
              <a:gd name="csY2" fmla="*/ 115876 h 6858000"/>
              <a:gd name="csX3" fmla="*/ 7296150 w 7296150"/>
              <a:gd name="csY3" fmla="*/ 174272 h 6858000"/>
              <a:gd name="csX4" fmla="*/ 7296150 w 7296150"/>
              <a:gd name="csY4" fmla="*/ 6858000 h 6858000"/>
              <a:gd name="csX5" fmla="*/ 1253211 w 7296150"/>
              <a:gd name="csY5" fmla="*/ 6858000 h 6858000"/>
              <a:gd name="csX6" fmla="*/ 1173800 w 7296150"/>
              <a:gd name="csY6" fmla="*/ 6774710 h 6858000"/>
              <a:gd name="csX7" fmla="*/ 0 w 7296150"/>
              <a:gd name="csY7" fmla="*/ 3736635 h 6858000"/>
              <a:gd name="csX8" fmla="*/ 1814972 w 7296150"/>
              <a:gd name="csY8" fmla="*/ 115876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296150" h="6858000">
                <a:moveTo>
                  <a:pt x="1977922" y="0"/>
                </a:moveTo>
                <a:lnTo>
                  <a:pt x="7058891" y="0"/>
                </a:lnTo>
                <a:lnTo>
                  <a:pt x="7221841" y="115876"/>
                </a:lnTo>
                <a:lnTo>
                  <a:pt x="7296150" y="174272"/>
                </a:lnTo>
                <a:lnTo>
                  <a:pt x="7296150" y="6858000"/>
                </a:lnTo>
                <a:lnTo>
                  <a:pt x="1253211" y="6858000"/>
                </a:lnTo>
                <a:lnTo>
                  <a:pt x="1173800" y="6774710"/>
                </a:lnTo>
                <a:cubicBezTo>
                  <a:pt x="444498" y="5972299"/>
                  <a:pt x="0" y="4906376"/>
                  <a:pt x="0" y="3736635"/>
                </a:cubicBezTo>
                <a:cubicBezTo>
                  <a:pt x="0" y="2254964"/>
                  <a:pt x="713172" y="939862"/>
                  <a:pt x="1814972" y="115876"/>
                </a:cubicBezTo>
                <a:close/>
              </a:path>
            </a:pathLst>
          </a:cu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282367B4-5859-69A6-6CF1-86FEA1D1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9047"/>
            <a:ext cx="5257800" cy="4856810"/>
          </a:xfrm>
        </p:spPr>
        <p:txBody>
          <a:bodyPr>
            <a:normAutofit/>
          </a:bodyPr>
          <a:lstStyle/>
          <a:p>
            <a:r>
              <a:rPr lang="da-DK" sz="1200" dirty="0"/>
              <a:t>Mål for løsningen</a:t>
            </a:r>
            <a:br>
              <a:rPr lang="da-DK" sz="1200" dirty="0"/>
            </a:br>
            <a:br>
              <a:rPr lang="da-DK" sz="1200" dirty="0"/>
            </a:br>
            <a:r>
              <a:rPr lang="da-DK" sz="1200" dirty="0"/>
              <a:t>Brugeren skal kunne:</a:t>
            </a:r>
            <a:br>
              <a:rPr lang="da-DK" sz="1200" dirty="0"/>
            </a:br>
            <a:br>
              <a:rPr lang="da-DK" sz="1200" dirty="0"/>
            </a:br>
            <a:r>
              <a:rPr lang="da-DK" sz="1200" dirty="0"/>
              <a:t>Indsætte eksisterende DNA</a:t>
            </a:r>
            <a:br>
              <a:rPr lang="da-DK" sz="1200" dirty="0"/>
            </a:br>
            <a:br>
              <a:rPr lang="da-DK" sz="1200" dirty="0"/>
            </a:br>
            <a:r>
              <a:rPr lang="da-DK" sz="1200" dirty="0"/>
              <a:t>Få:</a:t>
            </a:r>
            <a:br>
              <a:rPr lang="da-DK" sz="1200" dirty="0"/>
            </a:br>
            <a:br>
              <a:rPr lang="da-DK" sz="1200"/>
            </a:br>
            <a:r>
              <a:rPr lang="da-DK" sz="1200"/>
              <a:t>Et </a:t>
            </a:r>
            <a:r>
              <a:rPr lang="da-DK" sz="1200" dirty="0"/>
              <a:t>Score 5 EFTER (klar til brug)</a:t>
            </a:r>
            <a:br>
              <a:rPr lang="da-DK" sz="1200"/>
            </a:br>
            <a:r>
              <a:rPr lang="da-DK" sz="1200"/>
              <a:t>En </a:t>
            </a:r>
            <a:r>
              <a:rPr lang="da-DK" sz="1200" dirty="0"/>
              <a:t>konkret liste over hvad der er fjernet/ændret – og hvorfor</a:t>
            </a:r>
            <a:br>
              <a:rPr lang="da-DK" sz="1200" dirty="0"/>
            </a:br>
            <a:br>
              <a:rPr lang="da-DK" sz="1200" dirty="0"/>
            </a:br>
            <a:br>
              <a:rPr lang="da-DK" sz="1200" dirty="0"/>
            </a:br>
            <a:r>
              <a:rPr lang="da-DK" sz="1200" dirty="0"/>
              <a:t>UDEN:</a:t>
            </a:r>
            <a:br>
              <a:rPr lang="da-DK" sz="1200" dirty="0"/>
            </a:br>
            <a:br>
              <a:rPr lang="da-DK" sz="1200"/>
            </a:br>
            <a:r>
              <a:rPr lang="da-DK" sz="1200"/>
              <a:t>score</a:t>
            </a:r>
            <a:br>
              <a:rPr lang="da-DK" sz="1200"/>
            </a:br>
            <a:r>
              <a:rPr lang="da-DK" sz="1200"/>
              <a:t>diskussion </a:t>
            </a:r>
            <a:r>
              <a:rPr lang="da-DK" sz="1200" dirty="0"/>
              <a:t>af “niveau”</a:t>
            </a:r>
            <a:br>
              <a:rPr lang="da-DK" sz="1200"/>
            </a:br>
            <a:r>
              <a:rPr lang="da-DK" sz="1200"/>
              <a:t>akademisk </a:t>
            </a:r>
            <a:r>
              <a:rPr lang="da-DK" sz="1200" dirty="0"/>
              <a:t>analyse</a:t>
            </a:r>
            <a:br>
              <a:rPr lang="da-DK" sz="1200" dirty="0"/>
            </a:br>
            <a:br>
              <a:rPr lang="da-DK" sz="1200" dirty="0"/>
            </a:br>
            <a:br>
              <a:rPr lang="da-DK" sz="1200" dirty="0"/>
            </a:br>
            <a:br>
              <a:rPr lang="da-DK" sz="1200" dirty="0"/>
            </a:br>
            <a:r>
              <a:rPr lang="da-DK" sz="1200" dirty="0"/>
              <a:t>Output = operationelt + transparent</a:t>
            </a:r>
            <a:br>
              <a:rPr lang="da-DK" sz="1200" dirty="0"/>
            </a:br>
            <a:br>
              <a:rPr lang="da-DK" sz="1200" dirty="0"/>
            </a:br>
            <a:r>
              <a:rPr lang="da-DK" sz="1200" dirty="0" err="1"/>
              <a:t>Rewrite</a:t>
            </a:r>
            <a:r>
              <a:rPr lang="da-DK" sz="1200" dirty="0"/>
              <a:t> + </a:t>
            </a:r>
            <a:r>
              <a:rPr lang="da-DK" sz="1200" dirty="0" err="1"/>
              <a:t>Explain</a:t>
            </a:r>
            <a:br>
              <a:rPr lang="da-DK" sz="1200" dirty="0"/>
            </a:br>
            <a:br>
              <a:rPr lang="da-DK" sz="1200" dirty="0"/>
            </a:br>
            <a:r>
              <a:rPr lang="da-DK" sz="1200" dirty="0"/>
              <a:t>Ikke: analyseværktøj</a:t>
            </a:r>
            <a:br>
              <a:rPr lang="da-DK" sz="1200" dirty="0"/>
            </a:br>
            <a:r>
              <a:rPr lang="da-DK" sz="1200" dirty="0"/>
              <a:t>Men: produktionsværktøj med transparens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EB41E6E-E411-42EB-6278-162347619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56422" y="5958537"/>
            <a:ext cx="1005839" cy="44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97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1C4EDD-E28F-BAC7-E3D2-8352CF3A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AI Promptkæde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F8B1A86-09BC-A11B-4E44-0032827DD38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da-DK" dirty="0">
                <a:hlinkClick r:id="rId2"/>
              </a:rPr>
              <a:t>AI </a:t>
            </a:r>
            <a:r>
              <a:rPr lang="da-DK" dirty="0" err="1">
                <a:hlinkClick r:id="rId2"/>
              </a:rPr>
              <a:t>promptkæde_Group</a:t>
            </a:r>
            <a:r>
              <a:rPr lang="da-DK" dirty="0">
                <a:hlinkClick r:id="rId2"/>
              </a:rPr>
              <a:t> DNA.docx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37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7AC25-90ED-A26D-CD00-C21FC49C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845EEA1-6B09-FCB8-E5ED-89D747EF7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B995DFFF-126E-4E11-BF14-0CF7BAD6B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0587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10EBC-E739-C9C4-5669-C6FD1576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C23DE8F-C761-CD58-FE24-1FB327EBA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7DBAD87-9098-C8FB-981C-00E1CD2BC0F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AB141E3-194A-FC12-1FAB-C5B247AC962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29A4CA04-388C-6A33-1B5B-A95B470FA67D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3855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 [1781001363563]">
  <a:themeElements>
    <a:clrScheme name="EGN 2026">
      <a:dk1>
        <a:srgbClr val="00233C"/>
      </a:dk1>
      <a:lt1>
        <a:srgbClr val="FFFFFF"/>
      </a:lt1>
      <a:dk2>
        <a:srgbClr val="0E2841"/>
      </a:dk2>
      <a:lt2>
        <a:srgbClr val="E8E8E8"/>
      </a:lt2>
      <a:accent1>
        <a:srgbClr val="DFF1FB"/>
      </a:accent1>
      <a:accent2>
        <a:srgbClr val="ECECE8"/>
      </a:accent2>
      <a:accent3>
        <a:srgbClr val="00233D"/>
      </a:accent3>
      <a:accent4>
        <a:srgbClr val="DFF1FB"/>
      </a:accent4>
      <a:accent5>
        <a:srgbClr val="ECECE8"/>
      </a:accent5>
      <a:accent6>
        <a:srgbClr val="00233D"/>
      </a:accent6>
      <a:hlink>
        <a:srgbClr val="00233D"/>
      </a:hlink>
      <a:folHlink>
        <a:srgbClr val="DFF1FB"/>
      </a:folHlink>
    </a:clrScheme>
    <a:fontScheme name="Office">
      <a:majorFont>
        <a:latin typeface="Miguer Sans SemB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GN PPT template.pptx" id="{C38285B2-787B-4B1E-9916-5B2CC90C8DE1}" vid="{749F6105-635D-4967-A538-25951F3FB88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E7C4D83-00BC-4511-8A2A-759E8E00CB8F}">
  <we:reference id="f5f369e5-aa35-49d7-ad7b-638152ddb008" version="1.0.0.1" store="EXCatalog" storeType="EXCatalog"/>
  <we:alternateReferences>
    <we:reference id="WA200010001" version="1.0.0.1" store="da-DK" storeType="OMEX"/>
  </we:alternateReferences>
  <we:properties>
    <we:property name="claude.fileId" value="&quot;3c5326fd-6770-4cb5-a96c-677ab81d1b3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21755F30FBAC43A5FA289660AD896F" ma:contentTypeVersion="3" ma:contentTypeDescription="Create a new document." ma:contentTypeScope="" ma:versionID="90fe4f82ef4e802eedad3d2525f514e5">
  <xsd:schema xmlns:xsd="http://www.w3.org/2001/XMLSchema" xmlns:xs="http://www.w3.org/2001/XMLSchema" xmlns:p="http://schemas.microsoft.com/office/2006/metadata/properties" xmlns:ns2="69919cdb-64d5-4ac1-aed1-eeb3701eba9f" targetNamespace="http://schemas.microsoft.com/office/2006/metadata/properties" ma:root="true" ma:fieldsID="1d672b0f28b5a897cafd288df4d993e1" ns2:_="">
    <xsd:import namespace="69919cdb-64d5-4ac1-aed1-eeb3701eba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919cdb-64d5-4ac1-aed1-eeb3701eba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2E5353-2ABC-4D7C-8B74-109D8F6A81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919cdb-64d5-4ac1-aed1-eeb3701eba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C457B3-CC55-41F2-81A7-7CE9CDF776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B18D0D-7D0B-4038-9A28-E4E3EBD2CA2D}">
  <ds:schemaRefs>
    <ds:schemaRef ds:uri="http://schemas.microsoft.com/office/2006/metadata/properties"/>
    <ds:schemaRef ds:uri="http://schemas.microsoft.com/office/infopath/2007/PartnerControls"/>
    <ds:schemaRef ds:uri="b9bb0ef9-3372-4a9f-b25d-d13d70be4d00"/>
    <ds:schemaRef ds:uri="03410526-d8a9-4794-aa96-e06dd95fc34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EGN - Default template</Template>
  <TotalTime>202</TotalTime>
  <Words>2343</Words>
  <Application>Microsoft Office PowerPoint</Application>
  <PresentationFormat>Widescreen</PresentationFormat>
  <Paragraphs>535</Paragraphs>
  <Slides>24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Office-tema [1781001363563]</vt:lpstr>
      <vt:lpstr>PowerPoint Presentation</vt:lpstr>
      <vt:lpstr>Projekt: Group DNA – Update via AI</vt:lpstr>
      <vt:lpstr>PowerPoint Presentation</vt:lpstr>
      <vt:lpstr>Gruppeoversigt.</vt:lpstr>
      <vt:lpstr>EGN Helt kort.</vt:lpstr>
      <vt:lpstr>PowerPoint Presentation</vt:lpstr>
      <vt:lpstr>EGN CEO Gruppe DNA.</vt:lpstr>
      <vt:lpstr>Gruppe-DNA.</vt:lpstr>
      <vt:lpstr>Gruppe-DNA Template.</vt:lpstr>
      <vt:lpstr>Vurderingsramme.</vt:lpstr>
      <vt:lpstr>Kategorisering.</vt:lpstr>
      <vt:lpstr>Gruppeprofil.</vt:lpstr>
      <vt:lpstr>Medlemsprofil.</vt:lpstr>
      <vt:lpstr>Virksomhedsprofil.</vt:lpstr>
      <vt:lpstr>Chairprofil.</vt:lpstr>
      <vt:lpstr>CEO gruppe-DNA’er.</vt:lpstr>
      <vt:lpstr>Stærke DNA’er.</vt:lpstr>
      <vt:lpstr>Middel DNA’er.</vt:lpstr>
      <vt:lpstr>Svage DNA’er.</vt:lpstr>
      <vt:lpstr>NA &amp; Chair Feedback på V1.</vt:lpstr>
      <vt:lpstr>Mål for løsningen  Brugeren skal kunne:  Indsætte eksisterende DNA  Få:  Et Score 5 EFTER (klar til brug) En konkret liste over hvad der er fjernet/ændret – og hvorfor   UDEN:  score diskussion af “niveau” akademisk analyse    Output = operationelt + transparent  Rewrite + Explain  Ikke: analyseværktøj Men: produktionsværktøj med transparens</vt:lpstr>
      <vt:lpstr>AI Promptkæde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Rikke Lolk Fjeldsted</dc:creator>
  <cp:lastModifiedBy>Rikke Lolk Fjeldsted</cp:lastModifiedBy>
  <cp:revision>2</cp:revision>
  <dcterms:created xsi:type="dcterms:W3CDTF">2026-06-29T10:37:01Z</dcterms:created>
  <dcterms:modified xsi:type="dcterms:W3CDTF">2026-06-30T07:52:53Z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0x0101004221755F30FBAC43A5FA289660AD896F</vt:lpwstr>
  </property>
  <property fmtid="{D5CDD505-2E9C-101B-9397-08002B2CF9AE}" pid="3" name="MediaServiceImageTags">
    <vt:lpwstr/>
  </property>
</Properties>
</file>